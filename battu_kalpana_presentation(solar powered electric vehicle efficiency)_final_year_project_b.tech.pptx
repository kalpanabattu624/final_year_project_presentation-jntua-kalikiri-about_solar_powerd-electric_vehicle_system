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72" r:id="rId6"/>
    <p:sldId id="275" r:id="rId7"/>
    <p:sldId id="298" r:id="rId8"/>
    <p:sldId id="263" r:id="rId9"/>
    <p:sldId id="265" r:id="rId10"/>
    <p:sldId id="306" r:id="rId11"/>
    <p:sldId id="266" r:id="rId12"/>
    <p:sldId id="267" r:id="rId13"/>
    <p:sldId id="307" r:id="rId14"/>
    <p:sldId id="277" r:id="rId15"/>
    <p:sldId id="274" r:id="rId16"/>
    <p:sldId id="312" r:id="rId17"/>
    <p:sldId id="310" r:id="rId18"/>
    <p:sldId id="278" r:id="rId19"/>
    <p:sldId id="309" r:id="rId20"/>
    <p:sldId id="276" r:id="rId21"/>
    <p:sldId id="280" r:id="rId22"/>
    <p:sldId id="311" r:id="rId23"/>
    <p:sldId id="299" r:id="rId24"/>
    <p:sldId id="301" r:id="rId25"/>
    <p:sldId id="302" r:id="rId26"/>
    <p:sldId id="304" r:id="rId27"/>
    <p:sldId id="305" r:id="rId28"/>
    <p:sldId id="308" r:id="rId29"/>
    <p:sldId id="29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D595"/>
    <a:srgbClr val="DCB3FB"/>
    <a:srgbClr val="CDFBD2"/>
    <a:srgbClr val="9FF7A9"/>
    <a:srgbClr val="9ED6F8"/>
    <a:srgbClr val="169641"/>
    <a:srgbClr val="607796"/>
    <a:srgbClr val="090934"/>
    <a:srgbClr val="2E2FE3"/>
    <a:srgbClr val="6897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5726" autoAdjust="0"/>
  </p:normalViewPr>
  <p:slideViewPr>
    <p:cSldViewPr snapToGrid="0">
      <p:cViewPr varScale="1">
        <p:scale>
          <a:sx n="85" d="100"/>
          <a:sy n="85" d="100"/>
        </p:scale>
        <p:origin x="74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C49916-9464-4FB1-B739-ED5AF027D49D}" type="datetimeFigureOut">
              <a:rPr lang="en-IN" smtClean="0"/>
              <a:t>16-04-2025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117BD5-2361-4B85-8B20-BE528E7E3C67}" type="slidenum">
              <a:rPr lang="en-IN" smtClean="0"/>
              <a:t>‹#›</a:t>
            </a:fld>
            <a:endParaRPr lang="en-IN"/>
          </a:p>
        </p:txBody>
      </p:sp>
    </p:spTree>
    <p:extLst>
      <p:ext uri="{BB962C8B-B14F-4D97-AF65-F5344CB8AC3E}">
        <p14:creationId xmlns:p14="http://schemas.microsoft.com/office/powerpoint/2010/main" val="3810334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117BD5-2361-4B85-8B20-BE528E7E3C67}" type="slidenum">
              <a:rPr lang="en-IN" smtClean="0"/>
              <a:t>9</a:t>
            </a:fld>
            <a:endParaRPr lang="en-IN"/>
          </a:p>
        </p:txBody>
      </p:sp>
    </p:spTree>
    <p:extLst>
      <p:ext uri="{BB962C8B-B14F-4D97-AF65-F5344CB8AC3E}">
        <p14:creationId xmlns:p14="http://schemas.microsoft.com/office/powerpoint/2010/main" val="300036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117BD5-2361-4B85-8B20-BE528E7E3C67}" type="slidenum">
              <a:rPr lang="en-IN" smtClean="0"/>
              <a:t>12</a:t>
            </a:fld>
            <a:endParaRPr lang="en-IN"/>
          </a:p>
        </p:txBody>
      </p:sp>
    </p:spTree>
    <p:extLst>
      <p:ext uri="{BB962C8B-B14F-4D97-AF65-F5344CB8AC3E}">
        <p14:creationId xmlns:p14="http://schemas.microsoft.com/office/powerpoint/2010/main" val="3349323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117BD5-2361-4B85-8B20-BE528E7E3C67}" type="slidenum">
              <a:rPr lang="en-IN" smtClean="0"/>
              <a:t>15</a:t>
            </a:fld>
            <a:endParaRPr lang="en-IN"/>
          </a:p>
        </p:txBody>
      </p:sp>
    </p:spTree>
    <p:extLst>
      <p:ext uri="{BB962C8B-B14F-4D97-AF65-F5344CB8AC3E}">
        <p14:creationId xmlns:p14="http://schemas.microsoft.com/office/powerpoint/2010/main" val="1820430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117BD5-2361-4B85-8B20-BE528E7E3C67}" type="slidenum">
              <a:rPr lang="en-IN" smtClean="0"/>
              <a:t>17</a:t>
            </a:fld>
            <a:endParaRPr lang="en-IN"/>
          </a:p>
        </p:txBody>
      </p:sp>
    </p:spTree>
    <p:extLst>
      <p:ext uri="{BB962C8B-B14F-4D97-AF65-F5344CB8AC3E}">
        <p14:creationId xmlns:p14="http://schemas.microsoft.com/office/powerpoint/2010/main" val="526141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117BD5-2361-4B85-8B20-BE528E7E3C67}" type="slidenum">
              <a:rPr lang="en-IN" smtClean="0"/>
              <a:t>18</a:t>
            </a:fld>
            <a:endParaRPr lang="en-IN"/>
          </a:p>
        </p:txBody>
      </p:sp>
    </p:spTree>
    <p:extLst>
      <p:ext uri="{BB962C8B-B14F-4D97-AF65-F5344CB8AC3E}">
        <p14:creationId xmlns:p14="http://schemas.microsoft.com/office/powerpoint/2010/main" val="1609096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117BD5-2361-4B85-8B20-BE528E7E3C67}" type="slidenum">
              <a:rPr lang="en-IN" smtClean="0"/>
              <a:t>24</a:t>
            </a:fld>
            <a:endParaRPr lang="en-IN"/>
          </a:p>
        </p:txBody>
      </p:sp>
    </p:spTree>
    <p:extLst>
      <p:ext uri="{BB962C8B-B14F-4D97-AF65-F5344CB8AC3E}">
        <p14:creationId xmlns:p14="http://schemas.microsoft.com/office/powerpoint/2010/main" val="223711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117BD5-2361-4B85-8B20-BE528E7E3C67}" type="slidenum">
              <a:rPr lang="en-IN" smtClean="0"/>
              <a:t>25</a:t>
            </a:fld>
            <a:endParaRPr lang="en-IN"/>
          </a:p>
        </p:txBody>
      </p:sp>
    </p:spTree>
    <p:extLst>
      <p:ext uri="{BB962C8B-B14F-4D97-AF65-F5344CB8AC3E}">
        <p14:creationId xmlns:p14="http://schemas.microsoft.com/office/powerpoint/2010/main" val="4133884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8D68D-1B06-016C-D122-525B47EABD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CDA988-36D1-9E3C-A2DF-77C8C90998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AE6CCE-6D8B-5D3F-73C4-5BB766DD77D7}"/>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5" name="Footer Placeholder 4">
            <a:extLst>
              <a:ext uri="{FF2B5EF4-FFF2-40B4-BE49-F238E27FC236}">
                <a16:creationId xmlns:a16="http://schemas.microsoft.com/office/drawing/2014/main" id="{8525F891-C996-91AF-8CD3-5FE656FD37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963BCB-076F-EA0E-B36D-8B72851F3E87}"/>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2128120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C02E8-7829-877C-969B-262227ADAF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33E875-5161-E86D-A0B7-14BF5B6110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75922E-AE80-8E18-C3AA-F2C708B1A7A0}"/>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5" name="Footer Placeholder 4">
            <a:extLst>
              <a:ext uri="{FF2B5EF4-FFF2-40B4-BE49-F238E27FC236}">
                <a16:creationId xmlns:a16="http://schemas.microsoft.com/office/drawing/2014/main" id="{7A2D53BD-4168-B03C-41AE-85A015CAD0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6F3882-FB91-61D7-7944-59759909D1AD}"/>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3425570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D4773-B823-69EF-5AE8-AD7678F666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30E6392-7D85-3CBE-27D5-6D1F99F2DB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75D7D8-3985-EC96-91C4-492AADADA2A6}"/>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5" name="Footer Placeholder 4">
            <a:extLst>
              <a:ext uri="{FF2B5EF4-FFF2-40B4-BE49-F238E27FC236}">
                <a16:creationId xmlns:a16="http://schemas.microsoft.com/office/drawing/2014/main" id="{F35C3975-A43F-7ACA-C0B1-312E80B187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FD6BBA-B77C-06EF-84B1-C1D5B96BE349}"/>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3370467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BA529-14B3-3C6B-EE79-1CDDE6E007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EBD39C-BFCF-986B-D8A1-8CA2CF8DC1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DDC1BD-9F07-9BF2-5392-10B169D82E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732AA6-9DAF-AE82-0991-8C776DA68DE2}"/>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6" name="Footer Placeholder 5">
            <a:extLst>
              <a:ext uri="{FF2B5EF4-FFF2-40B4-BE49-F238E27FC236}">
                <a16:creationId xmlns:a16="http://schemas.microsoft.com/office/drawing/2014/main" id="{A03BDFA4-CB8B-E09E-CA0A-183A433955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001B6D-BDC9-350E-ADDB-F68DCF8DF2DF}"/>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1332909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FEBB8-4717-1290-4AC3-36424F57C5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E74192-21C2-39A2-F13A-3BCC4DD66A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36D4AA-3539-D686-3849-43E1E3D12F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92A511B-A23D-38C0-0E8F-78DFF7D27E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4629BA-5761-DE51-23B2-1987A7DCAC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BA9472-E4C0-BAD2-1C58-582C84188752}"/>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8" name="Footer Placeholder 7">
            <a:extLst>
              <a:ext uri="{FF2B5EF4-FFF2-40B4-BE49-F238E27FC236}">
                <a16:creationId xmlns:a16="http://schemas.microsoft.com/office/drawing/2014/main" id="{DA378133-FD95-BC09-7285-61557C957F3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C9F13FD-98FB-4C5B-4763-B61A729A236B}"/>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3196309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F5F1D-95C5-1736-7191-93758EA5263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986F89-DC0B-249D-B3B0-7908345A473A}"/>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4" name="Footer Placeholder 3">
            <a:extLst>
              <a:ext uri="{FF2B5EF4-FFF2-40B4-BE49-F238E27FC236}">
                <a16:creationId xmlns:a16="http://schemas.microsoft.com/office/drawing/2014/main" id="{15BF3FA6-2677-A2EA-1F34-1C94818AFD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5DEC62-18E3-5B59-CF4A-4F13EAF36453}"/>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2606065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00C6D8-61B1-CE6B-2AAA-8918304E1A06}"/>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3" name="Footer Placeholder 2">
            <a:extLst>
              <a:ext uri="{FF2B5EF4-FFF2-40B4-BE49-F238E27FC236}">
                <a16:creationId xmlns:a16="http://schemas.microsoft.com/office/drawing/2014/main" id="{137C3801-1D29-8F62-1DD8-2096AB67C6D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9C74E1F-5158-AE68-6AB5-ED1DD604D08E}"/>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4124336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8BDE1-852E-63EE-E8D6-A4EE4C0AFA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9244EE-D702-0DBA-FFB3-6103CC9A95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2A4D36-E27A-71DB-A1E1-92DF21E7AB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A60CA-BD49-EDBB-3622-7D4EB4A8A3D7}"/>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6" name="Footer Placeholder 5">
            <a:extLst>
              <a:ext uri="{FF2B5EF4-FFF2-40B4-BE49-F238E27FC236}">
                <a16:creationId xmlns:a16="http://schemas.microsoft.com/office/drawing/2014/main" id="{1BC08875-C0FC-E52E-C513-A8D3CBCF0A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3AF8AD-0626-CFD5-F0C6-A16EFD0F4214}"/>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1485738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3166E-3CE1-D793-C1F6-8262DF703B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3591F1-B6AA-8EF9-CD99-4FBA2A73C6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E96F61-F9DB-D13F-D140-A084622403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76CCF-96B0-8FEE-36E4-8FB85D04AB49}"/>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6" name="Footer Placeholder 5">
            <a:extLst>
              <a:ext uri="{FF2B5EF4-FFF2-40B4-BE49-F238E27FC236}">
                <a16:creationId xmlns:a16="http://schemas.microsoft.com/office/drawing/2014/main" id="{F93F4E89-56A8-66E7-9FFE-8368802F7A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28476F-7F5F-2215-2F5A-89E248D67E84}"/>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2534531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FC3E1-CB3F-7472-474D-C76C9D294F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19CBC3-0FD4-5577-97F9-22ED5623D2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F2DDC3-962C-F9CC-E610-02FA78A37B2D}"/>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5" name="Footer Placeholder 4">
            <a:extLst>
              <a:ext uri="{FF2B5EF4-FFF2-40B4-BE49-F238E27FC236}">
                <a16:creationId xmlns:a16="http://schemas.microsoft.com/office/drawing/2014/main" id="{9450666F-EF01-A098-8D9F-BE8F57A1C6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AEBFF6-C3EC-F917-4DE6-5669A07F7843}"/>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1037628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DA1F45-A220-DCD6-BA31-AAB776D74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BF890E-E08A-5EA7-E4FF-12ACB50B5A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EBF642-25EB-69FE-B6DD-B74C1505CDEF}"/>
              </a:ext>
            </a:extLst>
          </p:cNvPr>
          <p:cNvSpPr>
            <a:spLocks noGrp="1"/>
          </p:cNvSpPr>
          <p:nvPr>
            <p:ph type="dt" sz="half" idx="10"/>
          </p:nvPr>
        </p:nvSpPr>
        <p:spPr/>
        <p:txBody>
          <a:bodyPr/>
          <a:lstStyle/>
          <a:p>
            <a:fld id="{2FE9CD66-54BD-4D6F-807C-A5BA80A05517}" type="datetimeFigureOut">
              <a:rPr lang="en-IN" smtClean="0"/>
              <a:t>16-04-2025</a:t>
            </a:fld>
            <a:endParaRPr lang="en-IN"/>
          </a:p>
        </p:txBody>
      </p:sp>
      <p:sp>
        <p:nvSpPr>
          <p:cNvPr id="5" name="Footer Placeholder 4">
            <a:extLst>
              <a:ext uri="{FF2B5EF4-FFF2-40B4-BE49-F238E27FC236}">
                <a16:creationId xmlns:a16="http://schemas.microsoft.com/office/drawing/2014/main" id="{AB603D96-B534-C51A-E66D-78A362FD7F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01DE8A-4705-673C-CDFD-0E36A5ED3396}"/>
              </a:ext>
            </a:extLst>
          </p:cNvPr>
          <p:cNvSpPr>
            <a:spLocks noGrp="1"/>
          </p:cNvSpPr>
          <p:nvPr>
            <p:ph type="sldNum" sz="quarter" idx="12"/>
          </p:nvPr>
        </p:nvSpPr>
        <p:spPr/>
        <p:txBody>
          <a:bodyPr/>
          <a:lstStyle/>
          <a:p>
            <a:fld id="{F42E6ECF-7346-407A-BE60-5CB42E4D9183}" type="slidenum">
              <a:rPr lang="en-IN" smtClean="0"/>
              <a:t>‹#›</a:t>
            </a:fld>
            <a:endParaRPr lang="en-IN"/>
          </a:p>
        </p:txBody>
      </p:sp>
    </p:spTree>
    <p:extLst>
      <p:ext uri="{BB962C8B-B14F-4D97-AF65-F5344CB8AC3E}">
        <p14:creationId xmlns:p14="http://schemas.microsoft.com/office/powerpoint/2010/main" val="854000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1C2C1D-AAC2-4795-CB38-7A9AB3005CF2}"/>
              </a:ext>
            </a:extLst>
          </p:cNvPr>
          <p:cNvSpPr>
            <a:spLocks noGrp="1"/>
          </p:cNvSpPr>
          <p:nvPr>
            <p:ph type="title"/>
          </p:nvPr>
        </p:nvSpPr>
        <p:spPr>
          <a:xfrm>
            <a:off x="838200" y="-196341"/>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A8D4E0-BD70-FC21-2EDA-17D3AAE0B8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070339-54DD-17EC-D949-7ED2FE94DD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E9CD66-54BD-4D6F-807C-A5BA80A05517}" type="datetimeFigureOut">
              <a:rPr lang="en-IN" smtClean="0"/>
              <a:t>16-04-2025</a:t>
            </a:fld>
            <a:endParaRPr lang="en-IN"/>
          </a:p>
        </p:txBody>
      </p:sp>
      <p:sp>
        <p:nvSpPr>
          <p:cNvPr id="5" name="Footer Placeholder 4">
            <a:extLst>
              <a:ext uri="{FF2B5EF4-FFF2-40B4-BE49-F238E27FC236}">
                <a16:creationId xmlns:a16="http://schemas.microsoft.com/office/drawing/2014/main" id="{164E0273-EE52-DBE1-4148-A927C4B481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FE9453-B353-C265-838A-C43F41E3CD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2E6ECF-7346-407A-BE60-5CB42E4D9183}" type="slidenum">
              <a:rPr lang="en-IN" smtClean="0"/>
              <a:t>‹#›</a:t>
            </a:fld>
            <a:endParaRPr lang="en-IN"/>
          </a:p>
        </p:txBody>
      </p:sp>
      <p:cxnSp>
        <p:nvCxnSpPr>
          <p:cNvPr id="9" name="Straight Connector 8">
            <a:extLst>
              <a:ext uri="{FF2B5EF4-FFF2-40B4-BE49-F238E27FC236}">
                <a16:creationId xmlns:a16="http://schemas.microsoft.com/office/drawing/2014/main" id="{557514F4-C7A5-86AD-6616-9191448B4F46}"/>
              </a:ext>
            </a:extLst>
          </p:cNvPr>
          <p:cNvCxnSpPr/>
          <p:nvPr userDrawn="1"/>
        </p:nvCxnSpPr>
        <p:spPr>
          <a:xfrm>
            <a:off x="588034" y="974784"/>
            <a:ext cx="11015932" cy="0"/>
          </a:xfrm>
          <a:prstGeom prst="line">
            <a:avLst/>
          </a:prstGeom>
          <a:ln w="57150">
            <a:solidFill>
              <a:srgbClr val="2E2FE3"/>
            </a:solidFill>
          </a:ln>
        </p:spPr>
        <p:style>
          <a:lnRef idx="3">
            <a:schemeClr val="accent5"/>
          </a:lnRef>
          <a:fillRef idx="0">
            <a:schemeClr val="accent5"/>
          </a:fillRef>
          <a:effectRef idx="2">
            <a:schemeClr val="accent5"/>
          </a:effectRef>
          <a:fontRef idx="minor">
            <a:schemeClr val="tx1"/>
          </a:fontRef>
        </p:style>
      </p:cxnSp>
      <p:cxnSp>
        <p:nvCxnSpPr>
          <p:cNvPr id="10" name="Straight Connector 9">
            <a:extLst>
              <a:ext uri="{FF2B5EF4-FFF2-40B4-BE49-F238E27FC236}">
                <a16:creationId xmlns:a16="http://schemas.microsoft.com/office/drawing/2014/main" id="{CFAC3386-E6F4-32EE-9CCE-53D871DD8B80}"/>
              </a:ext>
            </a:extLst>
          </p:cNvPr>
          <p:cNvCxnSpPr/>
          <p:nvPr userDrawn="1"/>
        </p:nvCxnSpPr>
        <p:spPr>
          <a:xfrm>
            <a:off x="588034" y="6289106"/>
            <a:ext cx="11015932" cy="0"/>
          </a:xfrm>
          <a:prstGeom prst="line">
            <a:avLst/>
          </a:prstGeom>
          <a:ln w="57150">
            <a:solidFill>
              <a:srgbClr val="090934"/>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379966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jpg"/></Relationships>
</file>

<file path=ppt/slides/_rels/slide27.xml.rels><?xml version="1.0" encoding="UTF-8" standalone="yes"?>
<Relationships xmlns="http://schemas.openxmlformats.org/package/2006/relationships"><Relationship Id="rId2" Type="http://schemas.openxmlformats.org/officeDocument/2006/relationships/hyperlink" Target="https://ieeexplore.ieee.org/document/10733413"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JNTUA College of Engineering Kalikiri: Courses, Fees, Admission, Placement,  Scholarship">
            <a:extLst>
              <a:ext uri="{FF2B5EF4-FFF2-40B4-BE49-F238E27FC236}">
                <a16:creationId xmlns:a16="http://schemas.microsoft.com/office/drawing/2014/main" id="{B3B1CF0E-241D-5CC3-E66B-34A2714272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8261" y="1310217"/>
            <a:ext cx="2155408" cy="211878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10E0C4B-3569-16FA-A25C-1AAF4A3B2FA1}"/>
              </a:ext>
            </a:extLst>
          </p:cNvPr>
          <p:cNvSpPr>
            <a:spLocks noGrp="1"/>
          </p:cNvSpPr>
          <p:nvPr>
            <p:ph type="ctrTitle"/>
          </p:nvPr>
        </p:nvSpPr>
        <p:spPr>
          <a:xfrm>
            <a:off x="2326677" y="1865995"/>
            <a:ext cx="8801655" cy="1563005"/>
          </a:xfrm>
        </p:spPr>
        <p:txBody>
          <a:bodyPr>
            <a:normAutofit/>
          </a:bodyPr>
          <a:lstStyle/>
          <a:p>
            <a:pPr>
              <a:lnSpc>
                <a:spcPct val="100000"/>
              </a:lnSpc>
            </a:pPr>
            <a:r>
              <a:rPr lang="en-US" sz="2400" b="1" dirty="0">
                <a:solidFill>
                  <a:schemeClr val="accent3">
                    <a:lumMod val="75000"/>
                  </a:schemeClr>
                </a:solidFill>
                <a:latin typeface="Times New Roman" panose="02020603050405020304" pitchFamily="18" charset="0"/>
                <a:cs typeface="Times New Roman" panose="02020603050405020304" pitchFamily="18" charset="0"/>
              </a:rPr>
              <a:t>Advanced Monitoring System for Enhancing Solar-Powered Electric Vehicle Efficiency Using a Smoothing Function Circuit for Reliable Power Distribution</a:t>
            </a:r>
            <a:endParaRPr lang="en-IN" sz="2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F96B254-7834-2780-95A8-544DCC7EE68C}"/>
              </a:ext>
            </a:extLst>
          </p:cNvPr>
          <p:cNvSpPr>
            <a:spLocks noGrp="1"/>
          </p:cNvSpPr>
          <p:nvPr>
            <p:ph type="subTitle" idx="1"/>
          </p:nvPr>
        </p:nvSpPr>
        <p:spPr>
          <a:xfrm>
            <a:off x="1191237" y="3682538"/>
            <a:ext cx="10266193" cy="2795228"/>
          </a:xfrm>
        </p:spPr>
        <p:txBody>
          <a:bodyPr>
            <a:normAutofit/>
          </a:bodyPr>
          <a:lstStyle/>
          <a:p>
            <a:endParaRPr lang="en-IN" sz="1400" dirty="0">
              <a:solidFill>
                <a:schemeClr val="tx2"/>
              </a:solidFill>
              <a:latin typeface="Times New Roman" panose="02020603050405020304" pitchFamily="18" charset="0"/>
              <a:cs typeface="Times New Roman" panose="02020603050405020304" pitchFamily="18" charset="0"/>
            </a:endParaRPr>
          </a:p>
          <a:p>
            <a:pPr algn="l"/>
            <a:r>
              <a:rPr lang="en-IN" sz="1400" b="1" dirty="0">
                <a:solidFill>
                  <a:schemeClr val="tx2">
                    <a:lumMod val="75000"/>
                  </a:schemeClr>
                </a:solidFill>
                <a:latin typeface="Times New Roman" panose="02020603050405020304" pitchFamily="18" charset="0"/>
                <a:cs typeface="Times New Roman" panose="02020603050405020304" pitchFamily="18" charset="0"/>
              </a:rPr>
              <a:t>BATCH NO-13:-						</a:t>
            </a:r>
            <a:r>
              <a:rPr lang="en-US" sz="1400" b="1" dirty="0">
                <a:solidFill>
                  <a:schemeClr val="tx2">
                    <a:lumMod val="75000"/>
                  </a:schemeClr>
                </a:solidFill>
                <a:latin typeface="Times New Roman" panose="02020603050405020304" pitchFamily="18" charset="0"/>
                <a:cs typeface="Times New Roman" panose="02020603050405020304" pitchFamily="18" charset="0"/>
              </a:rPr>
              <a:t> Under the guidance of:-</a:t>
            </a:r>
            <a:endParaRPr lang="en-IN" sz="1400" b="1" dirty="0">
              <a:solidFill>
                <a:schemeClr val="tx2">
                  <a:lumMod val="75000"/>
                </a:schemeClr>
              </a:solidFill>
              <a:latin typeface="Times New Roman" panose="02020603050405020304" pitchFamily="18" charset="0"/>
              <a:cs typeface="Times New Roman" panose="02020603050405020304" pitchFamily="18" charset="0"/>
            </a:endParaRPr>
          </a:p>
          <a:p>
            <a:pPr algn="l"/>
            <a:r>
              <a:rPr lang="en-IN" sz="1400" dirty="0">
                <a:latin typeface="Times New Roman" panose="02020603050405020304" pitchFamily="18" charset="0"/>
                <a:cs typeface="Times New Roman" panose="02020603050405020304" pitchFamily="18" charset="0"/>
              </a:rPr>
              <a:t>G.KARTHIK -  21KA1A0254				                    Mrs . M.MEHETAJ, M.Tech</a:t>
            </a:r>
            <a:endParaRPr lang="en-US" sz="1400" b="1" dirty="0">
              <a:latin typeface="Times New Roman" panose="02020603050405020304" pitchFamily="18" charset="0"/>
              <a:cs typeface="Times New Roman" panose="02020603050405020304" pitchFamily="18" charset="0"/>
            </a:endParaRPr>
          </a:p>
          <a:p>
            <a:pPr algn="l"/>
            <a:r>
              <a:rPr lang="en-IN" sz="1400" dirty="0">
                <a:latin typeface="Times New Roman" panose="02020603050405020304" pitchFamily="18" charset="0"/>
                <a:cs typeface="Times New Roman" panose="02020603050405020304" pitchFamily="18" charset="0"/>
              </a:rPr>
              <a:t>H.SANDHYA BAI – 22KA5A0206                                                                                     	Assistant Professor(Ad-hoc)          </a:t>
            </a:r>
          </a:p>
          <a:p>
            <a:pPr algn="l"/>
            <a:r>
              <a:rPr lang="en-IN" sz="1400" dirty="0">
                <a:latin typeface="Times New Roman" panose="02020603050405020304" pitchFamily="18" charset="0"/>
                <a:cs typeface="Times New Roman" panose="02020603050405020304" pitchFamily="18" charset="0"/>
              </a:rPr>
              <a:t>N.NANDINI - 21KA1A0238 					Department of EEE</a:t>
            </a:r>
          </a:p>
          <a:p>
            <a:pPr algn="l"/>
            <a:r>
              <a:rPr lang="en-IN" sz="1400" dirty="0">
                <a:latin typeface="Times New Roman" panose="02020603050405020304" pitchFamily="18" charset="0"/>
                <a:cs typeface="Times New Roman" panose="02020603050405020304" pitchFamily="18" charset="0"/>
              </a:rPr>
              <a:t>B.KALPANA - 21KA1A0239					JNTUACEK</a:t>
            </a:r>
          </a:p>
          <a:p>
            <a:pPr algn="l"/>
            <a:endParaRPr lang="en-IN" sz="1400" dirty="0">
              <a:latin typeface="Times New Roman" panose="02020603050405020304" pitchFamily="18" charset="0"/>
              <a:cs typeface="Times New Roman" panose="02020603050405020304" pitchFamily="18" charset="0"/>
            </a:endParaRPr>
          </a:p>
          <a:p>
            <a:r>
              <a:rPr lang="en-IN" sz="1400" dirty="0">
                <a:solidFill>
                  <a:schemeClr val="tx2"/>
                </a:solidFill>
                <a:latin typeface="Times New Roman" panose="02020603050405020304" pitchFamily="18" charset="0"/>
                <a:cs typeface="Times New Roman" panose="02020603050405020304" pitchFamily="18" charset="0"/>
              </a:rPr>
              <a:t>                                                                                                                                                 </a:t>
            </a:r>
            <a:r>
              <a:rPr lang="en-IN" sz="1600" b="1" dirty="0">
                <a:solidFill>
                  <a:srgbClr val="C00000"/>
                </a:solidFill>
                <a:latin typeface="Times New Roman" panose="02020603050405020304" pitchFamily="18" charset="0"/>
                <a:cs typeface="Times New Roman" panose="02020603050405020304" pitchFamily="18" charset="0"/>
              </a:rPr>
              <a:t>Signature of the Guide      </a:t>
            </a:r>
            <a:r>
              <a:rPr lang="en-IN" sz="1400" dirty="0">
                <a:solidFill>
                  <a:schemeClr val="tx2"/>
                </a:solidFill>
                <a:latin typeface="Times New Roman" panose="02020603050405020304" pitchFamily="18" charset="0"/>
                <a:cs typeface="Times New Roman" panose="02020603050405020304" pitchFamily="18" charset="0"/>
              </a:rPr>
              <a:t>                     </a:t>
            </a:r>
            <a:endParaRPr lang="en-IN" sz="1400" dirty="0"/>
          </a:p>
        </p:txBody>
      </p:sp>
      <p:sp>
        <p:nvSpPr>
          <p:cNvPr id="7" name="TextBox 6">
            <a:extLst>
              <a:ext uri="{FF2B5EF4-FFF2-40B4-BE49-F238E27FC236}">
                <a16:creationId xmlns:a16="http://schemas.microsoft.com/office/drawing/2014/main" id="{3594D5F9-8D1B-D74B-36F8-9E9C5CDE050E}"/>
              </a:ext>
            </a:extLst>
          </p:cNvPr>
          <p:cNvSpPr txBox="1"/>
          <p:nvPr/>
        </p:nvSpPr>
        <p:spPr>
          <a:xfrm>
            <a:off x="2889050" y="1046169"/>
            <a:ext cx="7076941" cy="954107"/>
          </a:xfrm>
          <a:prstGeom prst="rect">
            <a:avLst/>
          </a:prstGeom>
          <a:noFill/>
        </p:spPr>
        <p:txBody>
          <a:bodyPr wrap="square">
            <a:spAutoFit/>
          </a:bodyPr>
          <a:lstStyle/>
          <a:p>
            <a:pPr algn="ctr"/>
            <a:r>
              <a:rPr lang="en-US" sz="2000" b="1" dirty="0">
                <a:solidFill>
                  <a:schemeClr val="accent2">
                    <a:lumMod val="25000"/>
                  </a:schemeClr>
                </a:solidFill>
                <a:latin typeface="Times New Roman" panose="02020603050405020304" pitchFamily="18" charset="0"/>
                <a:cs typeface="Times New Roman" panose="02020603050405020304" pitchFamily="18" charset="0"/>
              </a:rPr>
              <a:t>JAWAHARLAL NEHRU TECHNOLOGICAL UNIVERSITY ANANTAPUR COLLEGE OF ENGINEERING KALIKIRI</a:t>
            </a:r>
          </a:p>
          <a:p>
            <a:pPr algn="ctr"/>
            <a:r>
              <a:rPr lang="en-US" sz="1600" b="1" dirty="0">
                <a:solidFill>
                  <a:srgbClr val="C00000"/>
                </a:solidFill>
                <a:latin typeface="Times New Roman" panose="02020603050405020304" pitchFamily="18" charset="0"/>
                <a:cs typeface="Times New Roman" panose="02020603050405020304" pitchFamily="18" charset="0"/>
              </a:rPr>
              <a:t>DEPARTMENT OF ELECTRICAL AND ELECTRONICS ENGINEERING</a:t>
            </a:r>
            <a:endParaRPr lang="en-US" sz="1600" b="1" dirty="0">
              <a:solidFill>
                <a:schemeClr val="accent2">
                  <a:lumMod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4650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59405-A143-E212-F31A-8A11A50A7001}"/>
              </a:ext>
            </a:extLst>
          </p:cNvPr>
          <p:cNvSpPr>
            <a:spLocks noGrp="1"/>
          </p:cNvSpPr>
          <p:nvPr>
            <p:ph type="title"/>
          </p:nvPr>
        </p:nvSpPr>
        <p:spPr>
          <a:xfrm>
            <a:off x="527304" y="109695"/>
            <a:ext cx="10515600" cy="1325563"/>
          </a:xfrm>
        </p:spPr>
        <p:txBody>
          <a:bodyPr>
            <a:normAutofit/>
          </a:body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C2617FF0-CDA6-FE5D-2DE4-93FB855B2EDF}"/>
              </a:ext>
            </a:extLst>
          </p:cNvPr>
          <p:cNvSpPr>
            <a:spLocks noGrp="1"/>
          </p:cNvSpPr>
          <p:nvPr>
            <p:ph idx="1"/>
          </p:nvPr>
        </p:nvSpPr>
        <p:spPr>
          <a:xfrm>
            <a:off x="1021080" y="1514729"/>
            <a:ext cx="10515600" cy="4351338"/>
          </a:xfrm>
        </p:spPr>
        <p:txBody>
          <a:bodyPr>
            <a:noAutofit/>
          </a:bodyPr>
          <a:lstStyle/>
          <a:p>
            <a:pPr algn="just">
              <a:lnSpc>
                <a:spcPct val="120000"/>
              </a:lnSpc>
              <a:buFont typeface="Wingdings" panose="05000000000000000000" pitchFamily="2" charset="2"/>
              <a:buChar char="§"/>
            </a:pPr>
            <a:r>
              <a:rPr lang="en-IN" sz="2000" dirty="0">
                <a:solidFill>
                  <a:schemeClr val="accent2">
                    <a:lumMod val="25000"/>
                  </a:schemeClr>
                </a:solidFill>
                <a:latin typeface="Times New Roman" panose="02020603050405020304" pitchFamily="18" charset="0"/>
                <a:cs typeface="Times New Roman" panose="02020603050405020304" pitchFamily="18" charset="0"/>
              </a:rPr>
              <a:t>OBJECTIVES</a:t>
            </a:r>
          </a:p>
          <a:p>
            <a:pPr algn="just">
              <a:lnSpc>
                <a:spcPct val="120000"/>
              </a:lnSpc>
              <a:buFont typeface="Wingdings" panose="05000000000000000000" pitchFamily="2" charset="2"/>
              <a:buChar char="§"/>
            </a:pPr>
            <a:r>
              <a:rPr lang="en-IN" sz="2000" dirty="0">
                <a:solidFill>
                  <a:schemeClr val="accent2">
                    <a:lumMod val="25000"/>
                  </a:schemeClr>
                </a:solidFill>
                <a:latin typeface="Times New Roman" panose="02020603050405020304" pitchFamily="18" charset="0"/>
                <a:cs typeface="Times New Roman" panose="02020603050405020304" pitchFamily="18" charset="0"/>
              </a:rPr>
              <a:t>ABSTRACT</a:t>
            </a:r>
          </a:p>
          <a:p>
            <a:pPr algn="just">
              <a:lnSpc>
                <a:spcPct val="120000"/>
              </a:lnSpc>
              <a:buFont typeface="Wingdings" panose="05000000000000000000" pitchFamily="2" charset="2"/>
              <a:buChar char="§"/>
            </a:pPr>
            <a:r>
              <a:rPr lang="en-IN" sz="2000" dirty="0">
                <a:solidFill>
                  <a:schemeClr val="accent2">
                    <a:lumMod val="25000"/>
                  </a:schemeClr>
                </a:solidFill>
                <a:latin typeface="Times New Roman" panose="02020603050405020304" pitchFamily="18" charset="0"/>
                <a:cs typeface="Times New Roman" panose="02020603050405020304" pitchFamily="18" charset="0"/>
              </a:rPr>
              <a:t>INTRODUCTION</a:t>
            </a:r>
          </a:p>
          <a:p>
            <a:pPr algn="just">
              <a:lnSpc>
                <a:spcPct val="120000"/>
              </a:lnSpc>
              <a:buFont typeface="Wingdings" panose="05000000000000000000" pitchFamily="2" charset="2"/>
              <a:buChar char="§"/>
            </a:pPr>
            <a:r>
              <a:rPr lang="en-IN" sz="2000" dirty="0">
                <a:solidFill>
                  <a:schemeClr val="accent2">
                    <a:lumMod val="25000"/>
                  </a:schemeClr>
                </a:solidFill>
                <a:latin typeface="Times New Roman" panose="02020603050405020304" pitchFamily="18" charset="0"/>
                <a:cs typeface="Times New Roman" panose="02020603050405020304" pitchFamily="18" charset="0"/>
              </a:rPr>
              <a:t>LITERATURE SURVEY</a:t>
            </a:r>
          </a:p>
          <a:p>
            <a:pPr algn="just">
              <a:lnSpc>
                <a:spcPct val="120000"/>
              </a:lnSpc>
              <a:buFont typeface="Wingdings" panose="05000000000000000000" pitchFamily="2" charset="2"/>
              <a:buChar char="§"/>
            </a:pPr>
            <a:r>
              <a:rPr lang="en-IN" sz="2000" dirty="0">
                <a:solidFill>
                  <a:schemeClr val="accent2">
                    <a:lumMod val="25000"/>
                  </a:schemeClr>
                </a:solidFill>
                <a:latin typeface="Times New Roman" panose="02020603050405020304" pitchFamily="18" charset="0"/>
                <a:cs typeface="Times New Roman" panose="02020603050405020304" pitchFamily="18" charset="0"/>
              </a:rPr>
              <a:t>METHODOLOGY</a:t>
            </a:r>
          </a:p>
          <a:p>
            <a:pPr algn="just">
              <a:lnSpc>
                <a:spcPct val="120000"/>
              </a:lnSpc>
              <a:buFont typeface="Wingdings" panose="05000000000000000000" pitchFamily="2" charset="2"/>
              <a:buChar char="§"/>
            </a:pPr>
            <a:r>
              <a:rPr lang="en-IN" sz="2000" dirty="0">
                <a:solidFill>
                  <a:schemeClr val="accent2">
                    <a:lumMod val="25000"/>
                  </a:schemeClr>
                </a:solidFill>
                <a:latin typeface="Times New Roman" panose="02020603050405020304" pitchFamily="18" charset="0"/>
                <a:cs typeface="Times New Roman" panose="02020603050405020304" pitchFamily="18" charset="0"/>
              </a:rPr>
              <a:t>SIMULATION </a:t>
            </a:r>
          </a:p>
          <a:p>
            <a:pPr algn="just">
              <a:lnSpc>
                <a:spcPct val="120000"/>
              </a:lnSpc>
              <a:buFont typeface="Wingdings" panose="05000000000000000000" pitchFamily="2" charset="2"/>
              <a:buChar char="§"/>
            </a:pPr>
            <a:r>
              <a:rPr lang="en-IN" sz="2000" dirty="0">
                <a:solidFill>
                  <a:schemeClr val="accent2">
                    <a:lumMod val="25000"/>
                  </a:schemeClr>
                </a:solidFill>
                <a:latin typeface="Times New Roman" panose="02020603050405020304" pitchFamily="18" charset="0"/>
                <a:cs typeface="Times New Roman" panose="02020603050405020304" pitchFamily="18" charset="0"/>
              </a:rPr>
              <a:t>RESULT ANALYSIS</a:t>
            </a:r>
          </a:p>
          <a:p>
            <a:pPr algn="just">
              <a:lnSpc>
                <a:spcPct val="120000"/>
              </a:lnSpc>
              <a:buFont typeface="Wingdings" panose="05000000000000000000" pitchFamily="2" charset="2"/>
              <a:buChar char="§"/>
            </a:pPr>
            <a:r>
              <a:rPr lang="en-IN" sz="2000" dirty="0">
                <a:solidFill>
                  <a:schemeClr val="accent2">
                    <a:lumMod val="25000"/>
                  </a:schemeClr>
                </a:solidFill>
                <a:latin typeface="Times New Roman" panose="02020603050405020304" pitchFamily="18" charset="0"/>
                <a:cs typeface="Times New Roman" panose="02020603050405020304" pitchFamily="18" charset="0"/>
              </a:rPr>
              <a:t>CONCLUSION</a:t>
            </a:r>
          </a:p>
          <a:p>
            <a:pPr algn="just">
              <a:lnSpc>
                <a:spcPct val="120000"/>
              </a:lnSpc>
              <a:buFont typeface="Wingdings" panose="05000000000000000000" pitchFamily="2" charset="2"/>
              <a:buChar char="§"/>
            </a:pPr>
            <a:r>
              <a:rPr lang="en-IN" sz="2000" dirty="0">
                <a:solidFill>
                  <a:schemeClr val="accent2">
                    <a:lumMod val="25000"/>
                  </a:schemeClr>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68870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20572-A075-307B-18E1-39884C56C2ED}"/>
              </a:ext>
            </a:extLst>
          </p:cNvPr>
          <p:cNvSpPr>
            <a:spLocks noGrp="1"/>
          </p:cNvSpPr>
          <p:nvPr>
            <p:ph type="title"/>
          </p:nvPr>
        </p:nvSpPr>
        <p:spPr>
          <a:xfrm>
            <a:off x="518160" y="109695"/>
            <a:ext cx="10515600" cy="1325563"/>
          </a:xfrm>
        </p:spPr>
        <p:txBody>
          <a:bodyPr>
            <a:normAutofit/>
          </a:body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EEE3F96C-85DE-5BF4-C1A6-DAE9E6160CB2}"/>
              </a:ext>
            </a:extLst>
          </p:cNvPr>
          <p:cNvSpPr>
            <a:spLocks noGrp="1"/>
          </p:cNvSpPr>
          <p:nvPr>
            <p:ph idx="1"/>
          </p:nvPr>
        </p:nvSpPr>
        <p:spPr>
          <a:xfrm>
            <a:off x="838200" y="1435258"/>
            <a:ext cx="10515600" cy="4540537"/>
          </a:xfrm>
        </p:spPr>
        <p:txBody>
          <a:bodyPr>
            <a:normAutofit/>
          </a:bodyPr>
          <a:lstStyle/>
          <a:p>
            <a:pPr algn="just"/>
            <a:r>
              <a:rPr lang="en-US" sz="2200" dirty="0">
                <a:latin typeface="Times New Roman" panose="02020603050405020304" pitchFamily="18" charset="0"/>
                <a:cs typeface="Times New Roman" panose="02020603050405020304" pitchFamily="18" charset="0"/>
              </a:rPr>
              <a:t>To design photovoltaic panel with Maximum power point tracking for optimal power extraction and energy management.</a:t>
            </a:r>
          </a:p>
          <a:p>
            <a:pPr algn="just"/>
            <a:r>
              <a:rPr lang="en-US" sz="2200" dirty="0">
                <a:latin typeface="Times New Roman" panose="02020603050405020304" pitchFamily="18" charset="0"/>
                <a:cs typeface="Times New Roman" panose="02020603050405020304" pitchFamily="18" charset="0"/>
              </a:rPr>
              <a:t>To design and develop an advanced monitoring system for real-time tracking of solar input, battery performance, and energy consumption in a solar-powered electric vehicle.</a:t>
            </a:r>
          </a:p>
          <a:p>
            <a:pPr algn="just"/>
            <a:r>
              <a:rPr lang="en-US" sz="2200" dirty="0">
                <a:latin typeface="Times New Roman" panose="02020603050405020304" pitchFamily="18" charset="0"/>
                <a:cs typeface="Times New Roman" panose="02020603050405020304" pitchFamily="18" charset="0"/>
              </a:rPr>
              <a:t>To enhance vehicle efficiency by using real-time data to optimize energy usage, minimize losses, and improve battery management.</a:t>
            </a:r>
          </a:p>
          <a:p>
            <a:pPr algn="just"/>
            <a:r>
              <a:rPr lang="en-US" sz="2200" dirty="0">
                <a:latin typeface="Times New Roman" panose="02020603050405020304" pitchFamily="18" charset="0"/>
                <a:cs typeface="Times New Roman" panose="02020603050405020304" pitchFamily="18" charset="0"/>
              </a:rPr>
              <a:t>To implement a smoothing function circuit that reduces voltage and current fluctuations, ensuring stable and continuous power supply.</a:t>
            </a:r>
          </a:p>
          <a:p>
            <a:pPr algn="just"/>
            <a:r>
              <a:rPr lang="en-US" sz="2200" dirty="0">
                <a:latin typeface="Times New Roman" panose="02020603050405020304" pitchFamily="18" charset="0"/>
                <a:cs typeface="Times New Roman" panose="02020603050405020304" pitchFamily="18" charset="0"/>
              </a:rPr>
              <a:t>To ensure reliable power distribution by intelligently managing the flow of energy between the solar panel, battery, and electric motor.</a:t>
            </a:r>
          </a:p>
          <a:p>
            <a:pPr marL="0" indent="0" algn="just">
              <a:lnSpc>
                <a:spcPct val="120000"/>
              </a:lnSpc>
              <a:buNone/>
            </a:pPr>
            <a:endParaRPr lang="en-IN" sz="3200"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1250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57C8-AF54-8833-EBF2-CA8F163F44FC}"/>
              </a:ext>
            </a:extLst>
          </p:cNvPr>
          <p:cNvSpPr>
            <a:spLocks noGrp="1"/>
          </p:cNvSpPr>
          <p:nvPr>
            <p:ph type="title"/>
          </p:nvPr>
        </p:nvSpPr>
        <p:spPr>
          <a:xfrm>
            <a:off x="536448" y="82296"/>
            <a:ext cx="9805416" cy="1083405"/>
          </a:xfrm>
        </p:spPr>
        <p:txBody>
          <a:bodyPr>
            <a:normAutofit/>
          </a:bodyPr>
          <a:lstStyle/>
          <a:p>
            <a:r>
              <a:rPr lang="en-IN" dirty="0">
                <a:solidFill>
                  <a:schemeClr val="accent5">
                    <a:lumMod val="75000"/>
                  </a:schemeClr>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2275D8F4-84A4-EE4C-378A-C6E0520B08F7}"/>
              </a:ext>
            </a:extLst>
          </p:cNvPr>
          <p:cNvSpPr>
            <a:spLocks noGrp="1"/>
          </p:cNvSpPr>
          <p:nvPr>
            <p:ph idx="1"/>
          </p:nvPr>
        </p:nvSpPr>
        <p:spPr>
          <a:xfrm>
            <a:off x="536447" y="1099199"/>
            <a:ext cx="10885239" cy="4896771"/>
          </a:xfrm>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                The growing demand for sustainable transportation has accelerated the development of solar electric vehicles. While these vehicles offer a promising alternative to fossil fuel-dependent hybrid electric vehicles by utilizing clean solar energy, fluctuations in solar power generation can adversely affect performance and battery life. This project aims to develop a reliable solar-powered vehicle system that reduces fuel consumption and greenhouse gas emissions. </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                To address the instability of solar energy, a smoothing function circuit is integrated to ensure a consistent power output. Additionally, a real-time monitoring system is implemented to track energy flow, battery health, and system performance, enabling proactive maintenance and optimized energy management. Using MATLAB Simulink, the study designs, simulates, and analyzes a solar PV battery-powered system that delivers stable performance, enhanced reliability, and eco-friendly transportation.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4621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9245B-CB99-C724-D41B-24A31733D134}"/>
              </a:ext>
            </a:extLst>
          </p:cNvPr>
          <p:cNvSpPr>
            <a:spLocks noGrp="1"/>
          </p:cNvSpPr>
          <p:nvPr>
            <p:ph type="title"/>
          </p:nvPr>
        </p:nvSpPr>
        <p:spPr>
          <a:xfrm>
            <a:off x="600456" y="82263"/>
            <a:ext cx="10515600" cy="1325563"/>
          </a:xfrm>
        </p:spPr>
        <p:txBody>
          <a:bodyPr/>
          <a:lstStyle/>
          <a:p>
            <a:r>
              <a:rPr lang="en-IN" sz="4400" dirty="0">
                <a:latin typeface="Times New Roman" panose="02020603050405020304" pitchFamily="18" charset="0"/>
                <a:cs typeface="Times New Roman" panose="02020603050405020304" pitchFamily="18" charset="0"/>
              </a:rPr>
              <a:t>INTRODUCTION:-</a:t>
            </a:r>
            <a:endParaRPr lang="en-IN" dirty="0"/>
          </a:p>
        </p:txBody>
      </p:sp>
      <p:sp>
        <p:nvSpPr>
          <p:cNvPr id="3" name="Content Placeholder 2">
            <a:extLst>
              <a:ext uri="{FF2B5EF4-FFF2-40B4-BE49-F238E27FC236}">
                <a16:creationId xmlns:a16="http://schemas.microsoft.com/office/drawing/2014/main" id="{9B31A681-990C-C627-644F-F902AFEC47E4}"/>
              </a:ext>
            </a:extLst>
          </p:cNvPr>
          <p:cNvSpPr>
            <a:spLocks noGrp="1"/>
          </p:cNvSpPr>
          <p:nvPr>
            <p:ph idx="1"/>
          </p:nvPr>
        </p:nvSpPr>
        <p:spPr>
          <a:xfrm>
            <a:off x="691896" y="1005840"/>
            <a:ext cx="10733910" cy="5277514"/>
          </a:xfrm>
        </p:spPr>
        <p:txBody>
          <a:bodyPr>
            <a:normAutofit fontScale="92500" lnSpcReduction="20000"/>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Solar Electric Vehicles utilize photovoltaic technology to convert sunlight into electricity, providing a sustainable alternative to fossil-fuel-powered transportation. However, variations in solar energy output leads to voltage and current fluctuations, affecting battery efficiency and motor performance. To address this, a smoothing function circuit is employed to regulate power flow and stabilize electrical output. By enhancing Maximum Power Point Tracking (MPPT) efficiency, it improves energy management, extends battery lifespan, and protects electronic components. The integration of smoothing circuits in SEVs is essential for optimizing performance, ensuring reliability, and advancing solar-powered mobility solutions.</a:t>
            </a:r>
          </a:p>
          <a:p>
            <a:pPr algn="just">
              <a:lnSpc>
                <a:spcPct val="150000"/>
              </a:lnSpc>
              <a:buFont typeface="Wingdings" panose="05000000000000000000" pitchFamily="2" charset="2"/>
              <a:buChar char="q"/>
            </a:pPr>
            <a:r>
              <a:rPr kumimoji="0" lang="en-IN" sz="2000" b="1" i="0" u="none" strike="noStrike" kern="1200" cap="none" spc="0" normalizeH="0" baseline="0" noProof="0" dirty="0">
                <a:ln>
                  <a:noFill/>
                </a:ln>
                <a:solidFill>
                  <a:schemeClr val="accent5">
                    <a:lumMod val="40000"/>
                    <a:lumOff val="60000"/>
                  </a:schemeClr>
                </a:solidFill>
                <a:effectLst/>
                <a:uLnTx/>
                <a:uFillTx/>
                <a:latin typeface="Times New Roman" panose="02020603050405020304" pitchFamily="18" charset="0"/>
                <a:cs typeface="Times New Roman" panose="02020603050405020304" pitchFamily="18" charset="0"/>
              </a:rPr>
              <a:t>The project can be classified into four main systems which includes:-</a:t>
            </a:r>
            <a:endParaRPr lang="en-US" sz="2000" dirty="0">
              <a:latin typeface="Times New Roman" panose="02020603050405020304" pitchFamily="18" charset="0"/>
              <a:cs typeface="Times New Roman" panose="02020603050405020304" pitchFamily="18" charset="0"/>
            </a:endParaRPr>
          </a:p>
          <a:p>
            <a:pPr lvl="3">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Solar System</a:t>
            </a:r>
          </a:p>
          <a:p>
            <a:pPr lvl="3">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Energy Storage System</a:t>
            </a:r>
          </a:p>
          <a:p>
            <a:pPr lvl="3">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BLDC Motor</a:t>
            </a:r>
          </a:p>
          <a:p>
            <a:pPr lvl="3">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Monitoring System                          </a:t>
            </a:r>
            <a:r>
              <a:rPr lang="en-US" dirty="0">
                <a:latin typeface="Times New Roman" panose="02020603050405020304" pitchFamily="18" charset="0"/>
                <a:cs typeface="Times New Roman" panose="02020603050405020304" pitchFamily="18" charset="0"/>
              </a:rPr>
              <a:t>                    </a:t>
            </a:r>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1716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6BA8D-D7EE-CE78-BAA8-68F14708026D}"/>
              </a:ext>
            </a:extLst>
          </p:cNvPr>
          <p:cNvSpPr>
            <a:spLocks noGrp="1"/>
          </p:cNvSpPr>
          <p:nvPr>
            <p:ph type="title"/>
          </p:nvPr>
        </p:nvSpPr>
        <p:spPr>
          <a:xfrm>
            <a:off x="646176" y="645414"/>
            <a:ext cx="10326624" cy="695579"/>
          </a:xfrm>
        </p:spPr>
        <p:txBody>
          <a:bodyPr>
            <a:normAutofit fontScale="90000"/>
          </a:bodyPr>
          <a:lstStyle/>
          <a:p>
            <a:r>
              <a:rPr lang="en-US" sz="4400" dirty="0">
                <a:solidFill>
                  <a:schemeClr val="accent5">
                    <a:lumMod val="75000"/>
                  </a:schemeClr>
                </a:solidFill>
                <a:latin typeface="Times New Roman" panose="02020603050405020304" pitchFamily="18" charset="0"/>
                <a:cs typeface="Times New Roman" panose="02020603050405020304" pitchFamily="18" charset="0"/>
              </a:rPr>
              <a:t>LITERATURE SURVEY:-</a:t>
            </a:r>
            <a:br>
              <a:rPr lang="en-IN" sz="4400" dirty="0">
                <a:solidFill>
                  <a:srgbClr val="0070C0"/>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F9DC6A7-E663-4AAA-89B3-3E7CA461FD24}"/>
              </a:ext>
            </a:extLst>
          </p:cNvPr>
          <p:cNvSpPr>
            <a:spLocks noGrp="1"/>
          </p:cNvSpPr>
          <p:nvPr>
            <p:ph idx="1"/>
          </p:nvPr>
        </p:nvSpPr>
        <p:spPr>
          <a:xfrm>
            <a:off x="838200" y="1081548"/>
            <a:ext cx="10515600" cy="5024284"/>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T.S. Biya and </a:t>
            </a:r>
            <a:r>
              <a:rPr lang="en-US" sz="2000" b="1" dirty="0" err="1">
                <a:latin typeface="Times New Roman" panose="02020603050405020304" pitchFamily="18" charset="0"/>
                <a:cs typeface="Times New Roman" panose="02020603050405020304" pitchFamily="18" charset="0"/>
              </a:rPr>
              <a:t>Dr.M.R.Sindhu</a:t>
            </a:r>
            <a:r>
              <a:rPr lang="en-US" sz="2000" b="1"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about the integration of Solar Electric Vehicle with Energy Storage System and the analysis of the energy storage system </a:t>
            </a:r>
            <a:r>
              <a:rPr lang="en-IN" sz="2000" dirty="0">
                <a:latin typeface="Times New Roman" panose="02020603050405020304" pitchFamily="18" charset="0"/>
                <a:cs typeface="Times New Roman" panose="02020603050405020304" pitchFamily="18" charset="0"/>
              </a:rPr>
              <a:t>mitigate fluctuations in power and performance of the vehicle, control strategies employed to achieve a stable power output ensuring consistent energy supply.</a:t>
            </a:r>
          </a:p>
          <a:p>
            <a:pPr marL="0" indent="0" algn="just">
              <a:buNone/>
            </a:pPr>
            <a:r>
              <a:rPr lang="en-IN" sz="2000" b="1" dirty="0">
                <a:latin typeface="Times New Roman" panose="02020603050405020304" pitchFamily="18" charset="0"/>
                <a:cs typeface="Times New Roman" panose="02020603050405020304" pitchFamily="18" charset="0"/>
              </a:rPr>
              <a:t>Wajahat Khan and Furkan Ahmad[2]</a:t>
            </a:r>
            <a:r>
              <a:rPr lang="en-IN" sz="2000" dirty="0">
                <a:latin typeface="Times New Roman" panose="02020603050405020304" pitchFamily="18" charset="0"/>
                <a:cs typeface="Times New Roman" panose="02020603050405020304" pitchFamily="18" charset="0"/>
              </a:rPr>
              <a:t> the integration of Smoothing Function Circuit with solar Electric Vehicle and also analysis of inductor in reducing the efficiency and lifespan of the battery system and maintaining the stable power supply in solar electric vehicles.</a:t>
            </a:r>
          </a:p>
          <a:p>
            <a:pPr marL="0" indent="0" algn="just">
              <a:buNone/>
            </a:pPr>
            <a:r>
              <a:rPr lang="en-IN" sz="2000" b="1" dirty="0">
                <a:latin typeface="Times New Roman" panose="02020603050405020304" pitchFamily="18" charset="0"/>
                <a:cs typeface="Times New Roman" panose="02020603050405020304" pitchFamily="18" charset="0"/>
              </a:rPr>
              <a:t>Murai Lal Azad[3]</a:t>
            </a:r>
            <a:r>
              <a:rPr lang="en-IN" sz="2000" dirty="0">
                <a:latin typeface="Times New Roman" panose="02020603050405020304" pitchFamily="18" charset="0"/>
                <a:cs typeface="Times New Roman" panose="02020603050405020304" pitchFamily="18" charset="0"/>
              </a:rPr>
              <a:t> about the designing of solar electric vehicle with energy storage system and integration of the circuit with the bidirectional dc-dc converter and also the analysis of battery controller.</a:t>
            </a:r>
          </a:p>
          <a:p>
            <a:pPr marL="0" indent="0" algn="just">
              <a:buNone/>
            </a:pPr>
            <a:r>
              <a:rPr lang="en-IN" sz="2000" b="1" dirty="0">
                <a:latin typeface="Times New Roman" panose="02020603050405020304" pitchFamily="18" charset="0"/>
                <a:cs typeface="Times New Roman" panose="02020603050405020304" pitchFamily="18" charset="0"/>
              </a:rPr>
              <a:t>Mukesh Singh[4]</a:t>
            </a:r>
            <a:r>
              <a:rPr lang="en-IN" sz="2000" dirty="0">
                <a:latin typeface="Times New Roman" panose="02020603050405020304" pitchFamily="18" charset="0"/>
                <a:cs typeface="Times New Roman" panose="02020603050405020304" pitchFamily="18" charset="0"/>
              </a:rPr>
              <a:t> about the monitoring system of the vehicle in MAT LAB and simulation of the vehicle and evaluating the parameters of the vehicle BLDC(Brushless D.C)motor design with decoder and gate circuit help  for specific position of motor .</a:t>
            </a:r>
            <a:endParaRPr lang="en-IN" sz="2000" b="1" dirty="0">
              <a:latin typeface="Times New Roman" panose="02020603050405020304" pitchFamily="18" charset="0"/>
              <a:cs typeface="Times New Roman" panose="02020603050405020304" pitchFamily="18" charset="0"/>
            </a:endParaRPr>
          </a:p>
          <a:p>
            <a:pPr marL="0" indent="0">
              <a:lnSpc>
                <a:spcPct val="160000"/>
              </a:lnSpc>
              <a:buNone/>
            </a:pP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3509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9E48F-8AC5-F12B-AC2C-AD94BDD4BE13}"/>
              </a:ext>
            </a:extLst>
          </p:cNvPr>
          <p:cNvSpPr>
            <a:spLocks noGrp="1"/>
          </p:cNvSpPr>
          <p:nvPr>
            <p:ph type="title"/>
          </p:nvPr>
        </p:nvSpPr>
        <p:spPr>
          <a:xfrm>
            <a:off x="899874" y="582741"/>
            <a:ext cx="10515600" cy="643855"/>
          </a:xfrm>
        </p:spPr>
        <p:txBody>
          <a:bodyPr>
            <a:normAutofit fontScale="90000"/>
          </a:bodyPr>
          <a:lstStyle/>
          <a:p>
            <a:r>
              <a:rPr lang="en-IN" sz="4400" dirty="0">
                <a:solidFill>
                  <a:schemeClr val="accent2">
                    <a:lumMod val="25000"/>
                  </a:schemeClr>
                </a:solidFill>
                <a:latin typeface="Times New Roman" panose="02020603050405020304" pitchFamily="18" charset="0"/>
                <a:cs typeface="Times New Roman" panose="02020603050405020304" pitchFamily="18" charset="0"/>
              </a:rPr>
              <a:t>METHODOLOGY</a:t>
            </a:r>
            <a:r>
              <a:rPr lang="en-IN" dirty="0">
                <a:solidFill>
                  <a:schemeClr val="accent2">
                    <a:lumMod val="25000"/>
                  </a:schemeClr>
                </a:solidFill>
                <a:latin typeface="Times New Roman" panose="02020603050405020304" pitchFamily="18" charset="0"/>
                <a:cs typeface="Times New Roman" panose="02020603050405020304" pitchFamily="18" charset="0"/>
              </a:rPr>
              <a:t> :-</a:t>
            </a:r>
            <a:br>
              <a:rPr lang="en-IN" sz="4000" dirty="0">
                <a:solidFill>
                  <a:schemeClr val="accent5">
                    <a:lumMod val="75000"/>
                  </a:schemeClr>
                </a:solidFill>
                <a:latin typeface="Times New Roman" panose="02020603050405020304" pitchFamily="18" charset="0"/>
                <a:cs typeface="Times New Roman" panose="02020603050405020304" pitchFamily="18" charset="0"/>
              </a:rPr>
            </a:br>
            <a:r>
              <a:rPr lang="en-IN" sz="2200" b="1" dirty="0">
                <a:solidFill>
                  <a:schemeClr val="accent5">
                    <a:lumMod val="75000"/>
                  </a:schemeClr>
                </a:solidFill>
                <a:latin typeface="Times New Roman" panose="02020603050405020304" pitchFamily="18" charset="0"/>
                <a:cs typeface="Times New Roman" panose="02020603050405020304" pitchFamily="18" charset="0"/>
              </a:rPr>
              <a:t>BLOCK DIAGRAM</a:t>
            </a:r>
            <a:endParaRPr lang="en-IN" sz="2200" b="1" dirty="0">
              <a:solidFill>
                <a:srgbClr val="0070C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485B41C-209E-3852-8789-E06E59244B32}"/>
              </a:ext>
            </a:extLst>
          </p:cNvPr>
          <p:cNvSpPr txBox="1"/>
          <p:nvPr/>
        </p:nvSpPr>
        <p:spPr>
          <a:xfrm>
            <a:off x="1403707" y="5753717"/>
            <a:ext cx="8942664"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FIG1 : Block Diagram of the project </a:t>
            </a:r>
          </a:p>
        </p:txBody>
      </p:sp>
      <p:pic>
        <p:nvPicPr>
          <p:cNvPr id="7" name="Content Placeholder 6">
            <a:extLst>
              <a:ext uri="{FF2B5EF4-FFF2-40B4-BE49-F238E27FC236}">
                <a16:creationId xmlns:a16="http://schemas.microsoft.com/office/drawing/2014/main" id="{33D97D53-3E66-FAE3-F9FF-529509580C44}"/>
              </a:ext>
            </a:extLst>
          </p:cNvPr>
          <p:cNvPicPr>
            <a:picLocks noGrp="1" noChangeAspect="1"/>
          </p:cNvPicPr>
          <p:nvPr>
            <p:ph idx="1"/>
          </p:nvPr>
        </p:nvPicPr>
        <p:blipFill>
          <a:blip r:embed="rId2"/>
          <a:srcRect t="13160" r="18685" b="3299"/>
          <a:stretch/>
        </p:blipFill>
        <p:spPr>
          <a:xfrm>
            <a:off x="418407" y="1337094"/>
            <a:ext cx="11355185" cy="4335945"/>
          </a:xfrm>
          <a:prstGeom prst="rect">
            <a:avLst/>
          </a:prstGeom>
        </p:spPr>
      </p:pic>
    </p:spTree>
    <p:extLst>
      <p:ext uri="{BB962C8B-B14F-4D97-AF65-F5344CB8AC3E}">
        <p14:creationId xmlns:p14="http://schemas.microsoft.com/office/powerpoint/2010/main" val="537860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E239-80E2-B5DA-0D64-B28D1D68F01A}"/>
              </a:ext>
            </a:extLst>
          </p:cNvPr>
          <p:cNvSpPr>
            <a:spLocks noGrp="1"/>
          </p:cNvSpPr>
          <p:nvPr>
            <p:ph type="title"/>
          </p:nvPr>
        </p:nvSpPr>
        <p:spPr>
          <a:xfrm>
            <a:off x="704088" y="355980"/>
            <a:ext cx="10515600" cy="1280795"/>
          </a:xfrm>
        </p:spPr>
        <p:txBody>
          <a:bodyPr>
            <a:noAutofit/>
          </a:body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WORK DONE:-</a:t>
            </a:r>
            <a:br>
              <a:rPr lang="en-IN" sz="4000" dirty="0">
                <a:solidFill>
                  <a:schemeClr val="accent2"/>
                </a:solidFill>
                <a:latin typeface="Times New Roman" panose="02020603050405020304" pitchFamily="18" charset="0"/>
                <a:cs typeface="Times New Roman" panose="02020603050405020304" pitchFamily="18" charset="0"/>
              </a:rPr>
            </a:br>
            <a:endParaRPr lang="en-IN" sz="3600" dirty="0">
              <a:solidFill>
                <a:schemeClr val="accent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0E502CF-33C9-5B4F-8002-285073B566D8}"/>
              </a:ext>
            </a:extLst>
          </p:cNvPr>
          <p:cNvSpPr txBox="1"/>
          <p:nvPr/>
        </p:nvSpPr>
        <p:spPr>
          <a:xfrm>
            <a:off x="828664" y="996378"/>
            <a:ext cx="6954208" cy="523220"/>
          </a:xfrm>
          <a:prstGeom prst="rect">
            <a:avLst/>
          </a:prstGeom>
          <a:noFill/>
        </p:spPr>
        <p:txBody>
          <a:bodyPr wrap="square" rtlCol="0">
            <a:spAutoFit/>
          </a:bodyPr>
          <a:lstStyle/>
          <a:p>
            <a:pPr marL="285750" indent="-28575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Simulink  diagram of Photo Voltaic system:-</a:t>
            </a:r>
            <a:endParaRPr lang="en-IN" sz="2800" dirty="0">
              <a:solidFill>
                <a:schemeClr val="accent5">
                  <a:lumMod val="40000"/>
                  <a:lumOff val="60000"/>
                </a:schemeClr>
              </a:solidFill>
            </a:endParaRPr>
          </a:p>
        </p:txBody>
      </p:sp>
      <p:sp>
        <p:nvSpPr>
          <p:cNvPr id="3" name="TextBox 2">
            <a:extLst>
              <a:ext uri="{FF2B5EF4-FFF2-40B4-BE49-F238E27FC236}">
                <a16:creationId xmlns:a16="http://schemas.microsoft.com/office/drawing/2014/main" id="{256AEBC1-C00F-E5C5-78DA-E6E4B5436E20}"/>
              </a:ext>
            </a:extLst>
          </p:cNvPr>
          <p:cNvSpPr txBox="1"/>
          <p:nvPr/>
        </p:nvSpPr>
        <p:spPr>
          <a:xfrm>
            <a:off x="515389" y="5802284"/>
            <a:ext cx="10133215"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2 :- Simulation diagram of Photo Voltaic system with INC(Incremental conductance) MPPT Technique</a:t>
            </a:r>
          </a:p>
        </p:txBody>
      </p:sp>
      <p:pic>
        <p:nvPicPr>
          <p:cNvPr id="12" name="Content Placeholder 11">
            <a:extLst>
              <a:ext uri="{FF2B5EF4-FFF2-40B4-BE49-F238E27FC236}">
                <a16:creationId xmlns:a16="http://schemas.microsoft.com/office/drawing/2014/main" id="{FC8E794B-5F86-D9D8-B1C4-4A607A3C26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8664" y="1625609"/>
            <a:ext cx="10515600" cy="4235695"/>
          </a:xfrm>
        </p:spPr>
      </p:pic>
    </p:spTree>
    <p:extLst>
      <p:ext uri="{BB962C8B-B14F-4D97-AF65-F5344CB8AC3E}">
        <p14:creationId xmlns:p14="http://schemas.microsoft.com/office/powerpoint/2010/main" val="3389165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DFC390F-7F9E-0C6E-2CBD-94DF6C56BB4A}"/>
              </a:ext>
            </a:extLst>
          </p:cNvPr>
          <p:cNvSpPr>
            <a:spLocks noGrp="1"/>
          </p:cNvSpPr>
          <p:nvPr>
            <p:ph type="title"/>
          </p:nvPr>
        </p:nvSpPr>
        <p:spPr>
          <a:xfrm>
            <a:off x="547470" y="867666"/>
            <a:ext cx="10515599" cy="796413"/>
          </a:xfrm>
        </p:spPr>
        <p:txBody>
          <a:bodyPr>
            <a:normAutofit/>
          </a:bodyPr>
          <a:lstStyle/>
          <a:p>
            <a:pPr marL="457200" indent="-4572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 Result analysis  of Photo Voltaic system :-</a:t>
            </a:r>
          </a:p>
        </p:txBody>
      </p:sp>
      <p:sp>
        <p:nvSpPr>
          <p:cNvPr id="2" name="Title 1">
            <a:extLst>
              <a:ext uri="{FF2B5EF4-FFF2-40B4-BE49-F238E27FC236}">
                <a16:creationId xmlns:a16="http://schemas.microsoft.com/office/drawing/2014/main" id="{6D58D69E-2C35-DA10-0A80-B9C3320B4C3C}"/>
              </a:ext>
            </a:extLst>
          </p:cNvPr>
          <p:cNvSpPr txBox="1">
            <a:spLocks/>
          </p:cNvSpPr>
          <p:nvPr/>
        </p:nvSpPr>
        <p:spPr>
          <a:xfrm>
            <a:off x="704088" y="355980"/>
            <a:ext cx="10515600" cy="128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WORK DONE(contd…..)</a:t>
            </a:r>
            <a:br>
              <a:rPr lang="en-IN" sz="4000" dirty="0">
                <a:solidFill>
                  <a:schemeClr val="accent2"/>
                </a:solidFill>
                <a:latin typeface="Times New Roman" panose="02020603050405020304" pitchFamily="18" charset="0"/>
                <a:cs typeface="Times New Roman" panose="02020603050405020304" pitchFamily="18" charset="0"/>
              </a:rPr>
            </a:br>
            <a:endParaRPr lang="en-IN" sz="3600" dirty="0">
              <a:solidFill>
                <a:schemeClr val="accent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C83E841-FF8E-1A04-8506-00863C39BDF4}"/>
              </a:ext>
            </a:extLst>
          </p:cNvPr>
          <p:cNvSpPr txBox="1"/>
          <p:nvPr/>
        </p:nvSpPr>
        <p:spPr>
          <a:xfrm>
            <a:off x="899553" y="5836445"/>
            <a:ext cx="4113022"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FIG .3 :- Incremental Conductance MPPT Algorithm </a:t>
            </a:r>
          </a:p>
        </p:txBody>
      </p:sp>
      <p:sp>
        <p:nvSpPr>
          <p:cNvPr id="6" name="TextBox 5">
            <a:extLst>
              <a:ext uri="{FF2B5EF4-FFF2-40B4-BE49-F238E27FC236}">
                <a16:creationId xmlns:a16="http://schemas.microsoft.com/office/drawing/2014/main" id="{37D91A15-5123-8019-47AD-7221D35A9B8E}"/>
              </a:ext>
            </a:extLst>
          </p:cNvPr>
          <p:cNvSpPr txBox="1"/>
          <p:nvPr/>
        </p:nvSpPr>
        <p:spPr>
          <a:xfrm>
            <a:off x="6272981" y="5915625"/>
            <a:ext cx="5241477" cy="369332"/>
          </a:xfrm>
          <a:prstGeom prst="rect">
            <a:avLst/>
          </a:prstGeom>
          <a:noFill/>
        </p:spPr>
        <p:txBody>
          <a:bodyPr wrap="square" rtlCol="0">
            <a:spAutoFit/>
          </a:bodyPr>
          <a:lstStyle/>
          <a:p>
            <a:r>
              <a:rPr lang="en-IN" dirty="0">
                <a:latin typeface="Times New Roman" panose="02020603050405020304" pitchFamily="18" charset="0"/>
                <a:ea typeface="Tahoma" panose="020B0604030504040204" pitchFamily="34" charset="0"/>
                <a:cs typeface="Times New Roman" panose="02020603050405020304" pitchFamily="18" charset="0"/>
              </a:rPr>
              <a:t>FIG .4 :- Photo Voltaic system simulated graphs</a:t>
            </a:r>
          </a:p>
        </p:txBody>
      </p:sp>
      <p:pic>
        <p:nvPicPr>
          <p:cNvPr id="5" name="Picture 4">
            <a:extLst>
              <a:ext uri="{FF2B5EF4-FFF2-40B4-BE49-F238E27FC236}">
                <a16:creationId xmlns:a16="http://schemas.microsoft.com/office/drawing/2014/main" id="{19F008A4-E83A-0604-8412-6379A53906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53" y="1664079"/>
            <a:ext cx="4026408" cy="4064445"/>
          </a:xfrm>
          <a:prstGeom prst="rect">
            <a:avLst/>
          </a:prstGeom>
        </p:spPr>
      </p:pic>
      <p:pic>
        <p:nvPicPr>
          <p:cNvPr id="11" name="Picture 10">
            <a:extLst>
              <a:ext uri="{FF2B5EF4-FFF2-40B4-BE49-F238E27FC236}">
                <a16:creationId xmlns:a16="http://schemas.microsoft.com/office/drawing/2014/main" id="{DECEDBB1-84DB-D454-C6AB-A5F70A0C49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8911" y="1664079"/>
            <a:ext cx="6608716" cy="4172366"/>
          </a:xfrm>
          <a:prstGeom prst="rect">
            <a:avLst/>
          </a:prstGeom>
        </p:spPr>
      </p:pic>
    </p:spTree>
    <p:extLst>
      <p:ext uri="{BB962C8B-B14F-4D97-AF65-F5344CB8AC3E}">
        <p14:creationId xmlns:p14="http://schemas.microsoft.com/office/powerpoint/2010/main" val="3656070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D1A664-634D-FA15-02BC-6E1E081A997D}"/>
              </a:ext>
            </a:extLst>
          </p:cNvPr>
          <p:cNvSpPr>
            <a:spLocks noGrp="1"/>
          </p:cNvSpPr>
          <p:nvPr>
            <p:ph idx="1"/>
          </p:nvPr>
        </p:nvSpPr>
        <p:spPr>
          <a:xfrm>
            <a:off x="590204" y="1197032"/>
            <a:ext cx="11272057" cy="5062451"/>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MATLAB output illustrates the performance of a photovoltaic (PV) system utilizing the Incremental Conductance algorithm for Maximum Power Point Tracking (MPPT). Initially, the power, voltage, and current exhibit transient behavior as the algorithm rapidly adjusts to locate the maximum power point. The power rises sharply, peaking above 2287 W, with brief oscillations before stabilizing, indicating successful MPPT. Similarly, the voltage overshoots slightly before settling around 254 V, and the current dips briefly before stabilizing near 8.8 A. </a:t>
            </a:r>
            <a:endParaRPr lang="en-IN" sz="20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F8DAEA4-0FB6-0F65-9B07-62336F4F0290}"/>
              </a:ext>
            </a:extLst>
          </p:cNvPr>
          <p:cNvGraphicFramePr>
            <a:graphicFrameLocks noGrp="1"/>
          </p:cNvGraphicFramePr>
          <p:nvPr>
            <p:extLst>
              <p:ext uri="{D42A27DB-BD31-4B8C-83A1-F6EECF244321}">
                <p14:modId xmlns:p14="http://schemas.microsoft.com/office/powerpoint/2010/main" val="1578585950"/>
              </p:ext>
            </p:extLst>
          </p:nvPr>
        </p:nvGraphicFramePr>
        <p:xfrm>
          <a:off x="2111433" y="3912404"/>
          <a:ext cx="8104909" cy="2011680"/>
        </p:xfrm>
        <a:graphic>
          <a:graphicData uri="http://schemas.openxmlformats.org/drawingml/2006/table">
            <a:tbl>
              <a:tblPr firstRow="1" bandRow="1">
                <a:tableStyleId>{5C22544A-7EE6-4342-B048-85BDC9FD1C3A}</a:tableStyleId>
              </a:tblPr>
              <a:tblGrid>
                <a:gridCol w="2670848">
                  <a:extLst>
                    <a:ext uri="{9D8B030D-6E8A-4147-A177-3AD203B41FA5}">
                      <a16:colId xmlns:a16="http://schemas.microsoft.com/office/drawing/2014/main" val="3213157899"/>
                    </a:ext>
                  </a:extLst>
                </a:gridCol>
                <a:gridCol w="2717031">
                  <a:extLst>
                    <a:ext uri="{9D8B030D-6E8A-4147-A177-3AD203B41FA5}">
                      <a16:colId xmlns:a16="http://schemas.microsoft.com/office/drawing/2014/main" val="3413448482"/>
                    </a:ext>
                  </a:extLst>
                </a:gridCol>
                <a:gridCol w="2717030">
                  <a:extLst>
                    <a:ext uri="{9D8B030D-6E8A-4147-A177-3AD203B41FA5}">
                      <a16:colId xmlns:a16="http://schemas.microsoft.com/office/drawing/2014/main" val="4203113902"/>
                    </a:ext>
                  </a:extLst>
                </a:gridCol>
              </a:tblGrid>
              <a:tr h="485029">
                <a:tc>
                  <a:txBody>
                    <a:bodyPr/>
                    <a:lstStyle/>
                    <a:p>
                      <a:pPr algn="ctr"/>
                      <a:r>
                        <a:rPr lang="en-IN" dirty="0">
                          <a:solidFill>
                            <a:srgbClr val="FF0000"/>
                          </a:solidFill>
                          <a:latin typeface="Times New Roman" panose="02020603050405020304" pitchFamily="18" charset="0"/>
                          <a:cs typeface="Times New Roman" panose="02020603050405020304" pitchFamily="18" charset="0"/>
                        </a:rPr>
                        <a:t>Parameter</a:t>
                      </a:r>
                    </a:p>
                  </a:txBody>
                  <a:tcPr/>
                </a:tc>
                <a:tc>
                  <a:txBody>
                    <a:bodyPr/>
                    <a:lstStyle/>
                    <a:p>
                      <a:r>
                        <a:rPr lang="en-IN" dirty="0">
                          <a:solidFill>
                            <a:srgbClr val="FF0000"/>
                          </a:solidFill>
                          <a:latin typeface="Times New Roman" panose="02020603050405020304" pitchFamily="18" charset="0"/>
                          <a:cs typeface="Times New Roman" panose="02020603050405020304" pitchFamily="18" charset="0"/>
                        </a:rPr>
                        <a:t>Single Module Rating At STC(Standard test conditions)</a:t>
                      </a:r>
                    </a:p>
                  </a:txBody>
                  <a:tcPr/>
                </a:tc>
                <a:tc>
                  <a:txBody>
                    <a:bodyPr/>
                    <a:lstStyle/>
                    <a:p>
                      <a:r>
                        <a:rPr lang="en-IN" dirty="0">
                          <a:solidFill>
                            <a:srgbClr val="FF0000"/>
                          </a:solidFill>
                          <a:latin typeface="Times New Roman" panose="02020603050405020304" pitchFamily="18" charset="0"/>
                          <a:cs typeface="Times New Roman" panose="02020603050405020304" pitchFamily="18" charset="0"/>
                        </a:rPr>
                        <a:t>System Rating At STC</a:t>
                      </a:r>
                    </a:p>
                  </a:txBody>
                  <a:tcPr/>
                </a:tc>
                <a:extLst>
                  <a:ext uri="{0D108BD9-81ED-4DB2-BD59-A6C34878D82A}">
                    <a16:rowId xmlns:a16="http://schemas.microsoft.com/office/drawing/2014/main" val="3819477001"/>
                  </a:ext>
                </a:extLst>
              </a:tr>
              <a:tr h="315161">
                <a:tc>
                  <a:txBody>
                    <a:bodyPr/>
                    <a:lstStyle/>
                    <a:p>
                      <a:r>
                        <a:rPr lang="en-IN" dirty="0">
                          <a:latin typeface="Times New Roman" panose="02020603050405020304" pitchFamily="18" charset="0"/>
                          <a:cs typeface="Times New Roman" panose="02020603050405020304" pitchFamily="18" charset="0"/>
                        </a:rPr>
                        <a:t>Voltage </a:t>
                      </a:r>
                    </a:p>
                  </a:txBody>
                  <a:tcPr/>
                </a:tc>
                <a:tc>
                  <a:txBody>
                    <a:bodyPr/>
                    <a:lstStyle/>
                    <a:p>
                      <a:r>
                        <a:rPr lang="en-IN" dirty="0">
                          <a:latin typeface="Times New Roman" panose="02020603050405020304" pitchFamily="18" charset="0"/>
                          <a:cs typeface="Times New Roman" panose="02020603050405020304" pitchFamily="18" charset="0"/>
                        </a:rPr>
                        <a:t>31.77V</a:t>
                      </a:r>
                    </a:p>
                  </a:txBody>
                  <a:tcPr/>
                </a:tc>
                <a:tc>
                  <a:txBody>
                    <a:bodyPr/>
                    <a:lstStyle/>
                    <a:p>
                      <a:r>
                        <a:rPr lang="en-IN" dirty="0">
                          <a:latin typeface="Times New Roman" panose="02020603050405020304" pitchFamily="18" charset="0"/>
                          <a:cs typeface="Times New Roman" panose="02020603050405020304" pitchFamily="18" charset="0"/>
                        </a:rPr>
                        <a:t>31.77*8=254.16V</a:t>
                      </a:r>
                    </a:p>
                  </a:txBody>
                  <a:tcPr/>
                </a:tc>
                <a:extLst>
                  <a:ext uri="{0D108BD9-81ED-4DB2-BD59-A6C34878D82A}">
                    <a16:rowId xmlns:a16="http://schemas.microsoft.com/office/drawing/2014/main" val="772994172"/>
                  </a:ext>
                </a:extLst>
              </a:tr>
              <a:tr h="315161">
                <a:tc>
                  <a:txBody>
                    <a:bodyPr/>
                    <a:lstStyle/>
                    <a:p>
                      <a:r>
                        <a:rPr lang="en-IN" dirty="0">
                          <a:latin typeface="Times New Roman" panose="02020603050405020304" pitchFamily="18" charset="0"/>
                          <a:cs typeface="Times New Roman" panose="02020603050405020304" pitchFamily="18" charset="0"/>
                        </a:rPr>
                        <a:t>Current</a:t>
                      </a:r>
                    </a:p>
                  </a:txBody>
                  <a:tcPr/>
                </a:tc>
                <a:tc>
                  <a:txBody>
                    <a:bodyPr/>
                    <a:lstStyle/>
                    <a:p>
                      <a:r>
                        <a:rPr lang="en-IN" dirty="0">
                          <a:latin typeface="Times New Roman" panose="02020603050405020304" pitchFamily="18" charset="0"/>
                          <a:cs typeface="Times New Roman" panose="02020603050405020304" pitchFamily="18" charset="0"/>
                        </a:rPr>
                        <a:t>8.98A</a:t>
                      </a:r>
                    </a:p>
                  </a:txBody>
                  <a:tcPr/>
                </a:tc>
                <a:tc>
                  <a:txBody>
                    <a:bodyPr/>
                    <a:lstStyle/>
                    <a:p>
                      <a:r>
                        <a:rPr lang="en-IN" dirty="0">
                          <a:latin typeface="Times New Roman" panose="02020603050405020304" pitchFamily="18" charset="0"/>
                          <a:cs typeface="Times New Roman" panose="02020603050405020304" pitchFamily="18" charset="0"/>
                        </a:rPr>
                        <a:t>8.98A</a:t>
                      </a:r>
                    </a:p>
                  </a:txBody>
                  <a:tcPr/>
                </a:tc>
                <a:extLst>
                  <a:ext uri="{0D108BD9-81ED-4DB2-BD59-A6C34878D82A}">
                    <a16:rowId xmlns:a16="http://schemas.microsoft.com/office/drawing/2014/main" val="945105148"/>
                  </a:ext>
                </a:extLst>
              </a:tr>
              <a:tr h="315161">
                <a:tc>
                  <a:txBody>
                    <a:bodyPr/>
                    <a:lstStyle/>
                    <a:p>
                      <a:r>
                        <a:rPr lang="en-IN" dirty="0">
                          <a:latin typeface="Times New Roman" panose="02020603050405020304" pitchFamily="18" charset="0"/>
                          <a:cs typeface="Times New Roman" panose="02020603050405020304" pitchFamily="18" charset="0"/>
                        </a:rPr>
                        <a:t>Power</a:t>
                      </a:r>
                    </a:p>
                  </a:txBody>
                  <a:tcPr/>
                </a:tc>
                <a:tc>
                  <a:txBody>
                    <a:bodyPr/>
                    <a:lstStyle/>
                    <a:p>
                      <a:r>
                        <a:rPr lang="en-IN" dirty="0">
                          <a:latin typeface="Times New Roman" panose="02020603050405020304" pitchFamily="18" charset="0"/>
                          <a:cs typeface="Times New Roman" panose="02020603050405020304" pitchFamily="18" charset="0"/>
                        </a:rPr>
                        <a:t>285.29W</a:t>
                      </a:r>
                    </a:p>
                  </a:txBody>
                  <a:tcPr/>
                </a:tc>
                <a:tc>
                  <a:txBody>
                    <a:bodyPr/>
                    <a:lstStyle/>
                    <a:p>
                      <a:r>
                        <a:rPr lang="en-IN" dirty="0">
                          <a:latin typeface="Times New Roman" panose="02020603050405020304" pitchFamily="18" charset="0"/>
                          <a:cs typeface="Times New Roman" panose="02020603050405020304" pitchFamily="18" charset="0"/>
                        </a:rPr>
                        <a:t>285.98*8=2287W</a:t>
                      </a:r>
                    </a:p>
                  </a:txBody>
                  <a:tcPr/>
                </a:tc>
                <a:extLst>
                  <a:ext uri="{0D108BD9-81ED-4DB2-BD59-A6C34878D82A}">
                    <a16:rowId xmlns:a16="http://schemas.microsoft.com/office/drawing/2014/main" val="3252142980"/>
                  </a:ext>
                </a:extLst>
              </a:tr>
            </a:tbl>
          </a:graphicData>
        </a:graphic>
      </p:graphicFrame>
      <p:sp>
        <p:nvSpPr>
          <p:cNvPr id="6" name="TextBox 5">
            <a:extLst>
              <a:ext uri="{FF2B5EF4-FFF2-40B4-BE49-F238E27FC236}">
                <a16:creationId xmlns:a16="http://schemas.microsoft.com/office/drawing/2014/main" id="{0F259438-6EDE-EF67-FBA6-3B72457C23CF}"/>
              </a:ext>
            </a:extLst>
          </p:cNvPr>
          <p:cNvSpPr txBox="1"/>
          <p:nvPr/>
        </p:nvSpPr>
        <p:spPr>
          <a:xfrm>
            <a:off x="3225338" y="5818909"/>
            <a:ext cx="6051666"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Table shows parameters of the solar panel</a:t>
            </a:r>
          </a:p>
        </p:txBody>
      </p:sp>
    </p:spTree>
    <p:extLst>
      <p:ext uri="{BB962C8B-B14F-4D97-AF65-F5344CB8AC3E}">
        <p14:creationId xmlns:p14="http://schemas.microsoft.com/office/powerpoint/2010/main" val="3164314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E734C-735E-B62B-51B4-88CDF916E2C8}"/>
              </a:ext>
            </a:extLst>
          </p:cNvPr>
          <p:cNvSpPr>
            <a:spLocks noGrp="1"/>
          </p:cNvSpPr>
          <p:nvPr>
            <p:ph type="title"/>
          </p:nvPr>
        </p:nvSpPr>
        <p:spPr>
          <a:xfrm>
            <a:off x="499872" y="615030"/>
            <a:ext cx="10515600" cy="1325563"/>
          </a:xfrm>
        </p:spPr>
        <p:txBody>
          <a:bodyPr>
            <a:normAutofit/>
          </a:bodyPr>
          <a:lstStyle/>
          <a:p>
            <a:pPr marL="457200" indent="-4572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Simulink diagram of a Battery management system:-</a:t>
            </a:r>
          </a:p>
        </p:txBody>
      </p:sp>
      <p:sp>
        <p:nvSpPr>
          <p:cNvPr id="8" name="Title 1">
            <a:extLst>
              <a:ext uri="{FF2B5EF4-FFF2-40B4-BE49-F238E27FC236}">
                <a16:creationId xmlns:a16="http://schemas.microsoft.com/office/drawing/2014/main" id="{1F5E74E3-9D69-74E6-94CC-E9C54CF75171}"/>
              </a:ext>
            </a:extLst>
          </p:cNvPr>
          <p:cNvSpPr txBox="1">
            <a:spLocks/>
          </p:cNvSpPr>
          <p:nvPr/>
        </p:nvSpPr>
        <p:spPr>
          <a:xfrm>
            <a:off x="640080" y="534223"/>
            <a:ext cx="10515600" cy="4437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IN" sz="3600" dirty="0">
              <a:solidFill>
                <a:schemeClr val="accent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C3A3554-A7AC-396E-AF20-1AD03C40DB9E}"/>
              </a:ext>
            </a:extLst>
          </p:cNvPr>
          <p:cNvSpPr txBox="1"/>
          <p:nvPr/>
        </p:nvSpPr>
        <p:spPr>
          <a:xfrm>
            <a:off x="3546389" y="5744098"/>
            <a:ext cx="5099222"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.5 :- Simulation of Battery management system</a:t>
            </a:r>
          </a:p>
        </p:txBody>
      </p:sp>
      <p:pic>
        <p:nvPicPr>
          <p:cNvPr id="7" name="Content Placeholder 6">
            <a:extLst>
              <a:ext uri="{FF2B5EF4-FFF2-40B4-BE49-F238E27FC236}">
                <a16:creationId xmlns:a16="http://schemas.microsoft.com/office/drawing/2014/main" id="{4EEC401D-7B1C-C63F-62B4-FDF024AF11E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4156" t="28916" r="17041" b="12574"/>
          <a:stretch/>
        </p:blipFill>
        <p:spPr>
          <a:xfrm>
            <a:off x="499872" y="1604682"/>
            <a:ext cx="10822552" cy="4025153"/>
          </a:xfrm>
        </p:spPr>
      </p:pic>
    </p:spTree>
    <p:extLst>
      <p:ext uri="{BB962C8B-B14F-4D97-AF65-F5344CB8AC3E}">
        <p14:creationId xmlns:p14="http://schemas.microsoft.com/office/powerpoint/2010/main" val="1731561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B4641-4688-4EC4-52C8-99E860C9E9EA}"/>
              </a:ext>
            </a:extLst>
          </p:cNvPr>
          <p:cNvSpPr>
            <a:spLocks noGrp="1"/>
          </p:cNvSpPr>
          <p:nvPr>
            <p:ph type="title"/>
          </p:nvPr>
        </p:nvSpPr>
        <p:spPr>
          <a:xfrm>
            <a:off x="649223" y="580899"/>
            <a:ext cx="10515600" cy="1325563"/>
          </a:xfrm>
        </p:spPr>
        <p:txBody>
          <a:bodyPr>
            <a:normAutofit/>
          </a:bodyPr>
          <a:lstStyle/>
          <a:p>
            <a:pPr marL="457200" indent="-4572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Result Analysis of a battery storage system:-</a:t>
            </a:r>
          </a:p>
        </p:txBody>
      </p:sp>
      <p:sp>
        <p:nvSpPr>
          <p:cNvPr id="17" name="Title 1">
            <a:extLst>
              <a:ext uri="{FF2B5EF4-FFF2-40B4-BE49-F238E27FC236}">
                <a16:creationId xmlns:a16="http://schemas.microsoft.com/office/drawing/2014/main" id="{3ACB7D63-D8C7-A931-FE76-909F4B682D8F}"/>
              </a:ext>
            </a:extLst>
          </p:cNvPr>
          <p:cNvSpPr txBox="1">
            <a:spLocks/>
          </p:cNvSpPr>
          <p:nvPr/>
        </p:nvSpPr>
        <p:spPr>
          <a:xfrm>
            <a:off x="704088" y="355980"/>
            <a:ext cx="10515600" cy="76979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IN" sz="3600" dirty="0">
              <a:solidFill>
                <a:schemeClr val="accent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352CD0B-ADD0-3B1E-22FE-CFCC3B0E95E6}"/>
              </a:ext>
            </a:extLst>
          </p:cNvPr>
          <p:cNvSpPr txBox="1"/>
          <p:nvPr/>
        </p:nvSpPr>
        <p:spPr>
          <a:xfrm>
            <a:off x="4100010" y="5907769"/>
            <a:ext cx="3408631"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.6 :- Battery simulated outputs</a:t>
            </a:r>
          </a:p>
        </p:txBody>
      </p:sp>
      <p:pic>
        <p:nvPicPr>
          <p:cNvPr id="10" name="Content Placeholder 9">
            <a:extLst>
              <a:ext uri="{FF2B5EF4-FFF2-40B4-BE49-F238E27FC236}">
                <a16:creationId xmlns:a16="http://schemas.microsoft.com/office/drawing/2014/main" id="{B45AC063-958C-F185-6F22-372046DDBA3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86283" y="1556431"/>
            <a:ext cx="8870191" cy="4351338"/>
          </a:xfrm>
        </p:spPr>
      </p:pic>
      <p:sp>
        <p:nvSpPr>
          <p:cNvPr id="11" name="TextBox 10">
            <a:extLst>
              <a:ext uri="{FF2B5EF4-FFF2-40B4-BE49-F238E27FC236}">
                <a16:creationId xmlns:a16="http://schemas.microsoft.com/office/drawing/2014/main" id="{5600BF22-2331-D221-B63B-72E042DEAD2F}"/>
              </a:ext>
            </a:extLst>
          </p:cNvPr>
          <p:cNvSpPr txBox="1"/>
          <p:nvPr/>
        </p:nvSpPr>
        <p:spPr>
          <a:xfrm>
            <a:off x="9967656" y="1715882"/>
            <a:ext cx="1902919" cy="830997"/>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Battery Parameters</a:t>
            </a:r>
          </a:p>
          <a:p>
            <a:r>
              <a:rPr lang="en-IN" sz="1200" dirty="0">
                <a:latin typeface="Times New Roman" panose="02020603050405020304" pitchFamily="18" charset="0"/>
                <a:cs typeface="Times New Roman" panose="02020603050405020304" pitchFamily="18" charset="0"/>
              </a:rPr>
              <a:t>SOC of Battery=50%</a:t>
            </a:r>
          </a:p>
          <a:p>
            <a:r>
              <a:rPr lang="en-IN" sz="1200" dirty="0">
                <a:latin typeface="Times New Roman" panose="02020603050405020304" pitchFamily="18" charset="0"/>
                <a:cs typeface="Times New Roman" panose="02020603050405020304" pitchFamily="18" charset="0"/>
              </a:rPr>
              <a:t>Discharge Current=43.42A</a:t>
            </a:r>
          </a:p>
          <a:p>
            <a:r>
              <a:rPr lang="en-IN" sz="1200" dirty="0">
                <a:latin typeface="Times New Roman" panose="02020603050405020304" pitchFamily="18" charset="0"/>
                <a:cs typeface="Times New Roman" panose="02020603050405020304" pitchFamily="18" charset="0"/>
              </a:rPr>
              <a:t>Discharge Voltage=254V</a:t>
            </a:r>
          </a:p>
        </p:txBody>
      </p:sp>
    </p:spTree>
    <p:extLst>
      <p:ext uri="{BB962C8B-B14F-4D97-AF65-F5344CB8AC3E}">
        <p14:creationId xmlns:p14="http://schemas.microsoft.com/office/powerpoint/2010/main" val="2203429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C40201-8CE6-D58B-F1D7-E01447CBCB7B}"/>
              </a:ext>
            </a:extLst>
          </p:cNvPr>
          <p:cNvSpPr>
            <a:spLocks noGrp="1"/>
          </p:cNvSpPr>
          <p:nvPr>
            <p:ph idx="1"/>
          </p:nvPr>
        </p:nvSpPr>
        <p:spPr>
          <a:xfrm>
            <a:off x="748145" y="1072342"/>
            <a:ext cx="11072553" cy="5104621"/>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  [FIG 6] shows a linear decline in the State of Charge (SOC) of 50% indicating steady energy consumption as the battery discharges to supply power. The middle plot shows the battery current, which remains nearly constant with minor ripples or spikes, suggesting a relatively stable load demand with brief dynamic changes—possibly due to switching or load fluctuations in the motor or converter. The bottom graph shows the battery voltage, which stays steady at around 254V throughout the interval, indicating that the battery is operating within a healthy voltage range despite discharging.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5559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2F118-4AF3-D6C8-3AAE-454CAEBDC86F}"/>
              </a:ext>
            </a:extLst>
          </p:cNvPr>
          <p:cNvSpPr>
            <a:spLocks noGrp="1"/>
          </p:cNvSpPr>
          <p:nvPr>
            <p:ph type="title"/>
          </p:nvPr>
        </p:nvSpPr>
        <p:spPr>
          <a:xfrm>
            <a:off x="838200" y="0"/>
            <a:ext cx="10515600" cy="1445342"/>
          </a:xfrm>
        </p:spPr>
        <p:txBody>
          <a:bodyPr>
            <a:normAutofit/>
          </a:body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US" sz="4000" dirty="0">
              <a:solidFill>
                <a:schemeClr val="accent5">
                  <a:lumMod val="75000"/>
                </a:schemeClr>
              </a:solidFill>
            </a:endParaRPr>
          </a:p>
        </p:txBody>
      </p:sp>
      <p:sp>
        <p:nvSpPr>
          <p:cNvPr id="5" name="TextBox 4">
            <a:extLst>
              <a:ext uri="{FF2B5EF4-FFF2-40B4-BE49-F238E27FC236}">
                <a16:creationId xmlns:a16="http://schemas.microsoft.com/office/drawing/2014/main" id="{28BE202B-11FB-F300-4AA0-252FAC2806B2}"/>
              </a:ext>
            </a:extLst>
          </p:cNvPr>
          <p:cNvSpPr txBox="1"/>
          <p:nvPr/>
        </p:nvSpPr>
        <p:spPr>
          <a:xfrm>
            <a:off x="838200" y="1061884"/>
            <a:ext cx="10515600" cy="523220"/>
          </a:xfrm>
          <a:prstGeom prst="rect">
            <a:avLst/>
          </a:prstGeom>
          <a:noFill/>
        </p:spPr>
        <p:txBody>
          <a:bodyPr wrap="square" rtlCol="0">
            <a:spAutoFit/>
          </a:bodyPr>
          <a:lstStyle/>
          <a:p>
            <a:pPr marL="457200" indent="-4572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Simulink  diagram of BLDC Motor :- </a:t>
            </a:r>
            <a:endParaRPr lang="en-US" sz="2800" dirty="0">
              <a:solidFill>
                <a:schemeClr val="accent5">
                  <a:lumMod val="40000"/>
                  <a:lumOff val="60000"/>
                </a:schemeClr>
              </a:solidFill>
            </a:endParaRPr>
          </a:p>
        </p:txBody>
      </p:sp>
      <p:sp>
        <p:nvSpPr>
          <p:cNvPr id="8" name="TextBox 7">
            <a:extLst>
              <a:ext uri="{FF2B5EF4-FFF2-40B4-BE49-F238E27FC236}">
                <a16:creationId xmlns:a16="http://schemas.microsoft.com/office/drawing/2014/main" id="{11DDF7D5-1373-0780-5841-9FC12CEBC616}"/>
              </a:ext>
            </a:extLst>
          </p:cNvPr>
          <p:cNvSpPr txBox="1"/>
          <p:nvPr/>
        </p:nvSpPr>
        <p:spPr>
          <a:xfrm>
            <a:off x="1091381" y="5796116"/>
            <a:ext cx="8544232" cy="646331"/>
          </a:xfrm>
          <a:prstGeom prst="rect">
            <a:avLst/>
          </a:prstGeom>
          <a:noFill/>
        </p:spPr>
        <p:txBody>
          <a:bodyPr wrap="square" rtlCol="0">
            <a:spAutoFit/>
          </a:bodyPr>
          <a:lstStyle/>
          <a:p>
            <a:pPr algn="ctr"/>
            <a:r>
              <a:rPr lang="en-IN" sz="1800" dirty="0">
                <a:latin typeface="Times New Roman" panose="02020603050405020304" pitchFamily="18" charset="0"/>
                <a:cs typeface="Times New Roman" panose="02020603050405020304" pitchFamily="18" charset="0"/>
              </a:rPr>
              <a:t>FIG.</a:t>
            </a:r>
            <a:r>
              <a:rPr lang="en-IN" dirty="0">
                <a:latin typeface="Times New Roman" panose="02020603050405020304" pitchFamily="18" charset="0"/>
                <a:cs typeface="Times New Roman" panose="02020603050405020304" pitchFamily="18" charset="0"/>
              </a:rPr>
              <a:t>7</a:t>
            </a:r>
            <a:r>
              <a:rPr lang="en-IN" sz="1800" dirty="0">
                <a:latin typeface="Times New Roman" panose="02020603050405020304" pitchFamily="18" charset="0"/>
                <a:cs typeface="Times New Roman" panose="02020603050405020304" pitchFamily="18" charset="0"/>
              </a:rPr>
              <a:t>:- Simulink  diagram of </a:t>
            </a:r>
            <a:r>
              <a:rPr lang="en-IN" dirty="0">
                <a:latin typeface="Times New Roman" panose="02020603050405020304" pitchFamily="18" charset="0"/>
                <a:cs typeface="Times New Roman" panose="02020603050405020304" pitchFamily="18" charset="0"/>
              </a:rPr>
              <a:t>BLDC </a:t>
            </a:r>
            <a:r>
              <a:rPr lang="en-IN" sz="1800" dirty="0">
                <a:latin typeface="Times New Roman" panose="02020603050405020304" pitchFamily="18" charset="0"/>
                <a:cs typeface="Times New Roman" panose="02020603050405020304" pitchFamily="18" charset="0"/>
              </a:rPr>
              <a:t>Motor </a:t>
            </a:r>
          </a:p>
          <a:p>
            <a:endParaRPr lang="en-US" dirty="0"/>
          </a:p>
        </p:txBody>
      </p:sp>
      <p:pic>
        <p:nvPicPr>
          <p:cNvPr id="13" name="Content Placeholder 12">
            <a:extLst>
              <a:ext uri="{FF2B5EF4-FFF2-40B4-BE49-F238E27FC236}">
                <a16:creationId xmlns:a16="http://schemas.microsoft.com/office/drawing/2014/main" id="{E13811EF-DA95-CD75-F910-1DF2F921F71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8377" b="2207"/>
          <a:stretch/>
        </p:blipFill>
        <p:spPr>
          <a:xfrm>
            <a:off x="365760" y="1585104"/>
            <a:ext cx="11405062" cy="4150678"/>
          </a:xfrm>
        </p:spPr>
      </p:pic>
    </p:spTree>
    <p:extLst>
      <p:ext uri="{BB962C8B-B14F-4D97-AF65-F5344CB8AC3E}">
        <p14:creationId xmlns:p14="http://schemas.microsoft.com/office/powerpoint/2010/main" val="2960680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5429-3D36-A09D-CB53-7783B904C327}"/>
              </a:ext>
            </a:extLst>
          </p:cNvPr>
          <p:cNvSpPr>
            <a:spLocks noGrp="1"/>
          </p:cNvSpPr>
          <p:nvPr>
            <p:ph type="title"/>
          </p:nvPr>
        </p:nvSpPr>
        <p:spPr>
          <a:xfrm>
            <a:off x="673608" y="690181"/>
            <a:ext cx="10515600" cy="1325563"/>
          </a:xfrm>
        </p:spPr>
        <p:txBody>
          <a:bodyPr>
            <a:normAutofit/>
          </a:bodyPr>
          <a:lstStyle/>
          <a:p>
            <a:pPr marL="571500" indent="-5715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Result Analysis of a Stator Back EMF:-</a:t>
            </a:r>
            <a:endParaRPr lang="en-IN" sz="2800" dirty="0">
              <a:solidFill>
                <a:schemeClr val="accent5">
                  <a:lumMod val="40000"/>
                  <a:lumOff val="60000"/>
                </a:schemeClr>
              </a:solidFill>
            </a:endParaRPr>
          </a:p>
        </p:txBody>
      </p:sp>
      <p:sp>
        <p:nvSpPr>
          <p:cNvPr id="6" name="Title 1">
            <a:extLst>
              <a:ext uri="{FF2B5EF4-FFF2-40B4-BE49-F238E27FC236}">
                <a16:creationId xmlns:a16="http://schemas.microsoft.com/office/drawing/2014/main" id="{A1B4BD75-2143-0264-0245-1ED32160FB77}"/>
              </a:ext>
            </a:extLst>
          </p:cNvPr>
          <p:cNvSpPr txBox="1">
            <a:spLocks/>
          </p:cNvSpPr>
          <p:nvPr/>
        </p:nvSpPr>
        <p:spPr>
          <a:xfrm>
            <a:off x="673608" y="154812"/>
            <a:ext cx="10515600" cy="128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IN" sz="3600" dirty="0">
              <a:solidFill>
                <a:schemeClr val="accent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AB59E6F-0A5B-F044-C595-BCD7F6451241}"/>
              </a:ext>
            </a:extLst>
          </p:cNvPr>
          <p:cNvSpPr txBox="1"/>
          <p:nvPr/>
        </p:nvSpPr>
        <p:spPr>
          <a:xfrm>
            <a:off x="3957891" y="5798487"/>
            <a:ext cx="427621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.8:- Waveforms of Stator Back EMF</a:t>
            </a:r>
          </a:p>
        </p:txBody>
      </p:sp>
      <p:pic>
        <p:nvPicPr>
          <p:cNvPr id="8" name="Content Placeholder 7">
            <a:extLst>
              <a:ext uri="{FF2B5EF4-FFF2-40B4-BE49-F238E27FC236}">
                <a16:creationId xmlns:a16="http://schemas.microsoft.com/office/drawing/2014/main" id="{CBB42FEF-6BE9-FC51-F522-715DEE85661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02792" y="1578060"/>
            <a:ext cx="9329928" cy="4152180"/>
          </a:xfrm>
        </p:spPr>
      </p:pic>
      <p:sp>
        <p:nvSpPr>
          <p:cNvPr id="4" name="TextBox 3">
            <a:extLst>
              <a:ext uri="{FF2B5EF4-FFF2-40B4-BE49-F238E27FC236}">
                <a16:creationId xmlns:a16="http://schemas.microsoft.com/office/drawing/2014/main" id="{5B3ECFEF-C820-064A-97A7-C0F6B85840CE}"/>
              </a:ext>
            </a:extLst>
          </p:cNvPr>
          <p:cNvSpPr txBox="1"/>
          <p:nvPr/>
        </p:nvSpPr>
        <p:spPr>
          <a:xfrm>
            <a:off x="10307074" y="2158197"/>
            <a:ext cx="1764267" cy="276999"/>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Back EMF=9.94V</a:t>
            </a:r>
          </a:p>
        </p:txBody>
      </p:sp>
    </p:spTree>
    <p:extLst>
      <p:ext uri="{BB962C8B-B14F-4D97-AF65-F5344CB8AC3E}">
        <p14:creationId xmlns:p14="http://schemas.microsoft.com/office/powerpoint/2010/main" val="115207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155287-7997-C271-B209-786E8241726A}"/>
              </a:ext>
            </a:extLst>
          </p:cNvPr>
          <p:cNvSpPr>
            <a:spLocks noGrp="1"/>
          </p:cNvSpPr>
          <p:nvPr>
            <p:ph idx="1"/>
          </p:nvPr>
        </p:nvSpPr>
        <p:spPr>
          <a:xfrm>
            <a:off x="739588" y="1467037"/>
            <a:ext cx="10515600" cy="435133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[FIG.8] waveforms represent the trapezoidal back EMF (electromotive force) of a three-phase BLDC motor, showing the EMF for phases A, B, and C, each shifted by 120°. These EMFs are generated as the rotor's permanent magnets rotate past the stator windings, inducing voltages that alternate between approximately +10V and -10V. The trapezoidal shape is characteristic of BLDC motors and is essential for their operation, as it allows for electronic commutation using Hall sensors techniques that detect the zero-crossing of back EMF. These waveforms are used by the motor controller to determine switching points for the inverter, ensuring proper phase alignment and torque production.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0045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E549D-43E5-0E36-E2B3-53C253E002F7}"/>
              </a:ext>
            </a:extLst>
          </p:cNvPr>
          <p:cNvSpPr>
            <a:spLocks noGrp="1"/>
          </p:cNvSpPr>
          <p:nvPr>
            <p:ph type="title"/>
          </p:nvPr>
        </p:nvSpPr>
        <p:spPr/>
        <p:txBody>
          <a:bodyPr/>
          <a:lstStyle/>
          <a:p>
            <a:r>
              <a:rPr lang="en-IN" sz="44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IN" dirty="0"/>
          </a:p>
        </p:txBody>
      </p:sp>
      <p:pic>
        <p:nvPicPr>
          <p:cNvPr id="9" name="Content Placeholder 8">
            <a:extLst>
              <a:ext uri="{FF2B5EF4-FFF2-40B4-BE49-F238E27FC236}">
                <a16:creationId xmlns:a16="http://schemas.microsoft.com/office/drawing/2014/main" id="{A797F00B-D61D-2D82-8E49-87ECCE5BA0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3084" y="1725444"/>
            <a:ext cx="10580716" cy="3993712"/>
          </a:xfrm>
        </p:spPr>
      </p:pic>
      <p:sp>
        <p:nvSpPr>
          <p:cNvPr id="10" name="TextBox 9">
            <a:extLst>
              <a:ext uri="{FF2B5EF4-FFF2-40B4-BE49-F238E27FC236}">
                <a16:creationId xmlns:a16="http://schemas.microsoft.com/office/drawing/2014/main" id="{7CF05A3B-E672-22EF-7C7D-CB900CF6D39F}"/>
              </a:ext>
            </a:extLst>
          </p:cNvPr>
          <p:cNvSpPr txBox="1"/>
          <p:nvPr/>
        </p:nvSpPr>
        <p:spPr>
          <a:xfrm>
            <a:off x="1064029" y="1230284"/>
            <a:ext cx="8188036" cy="800219"/>
          </a:xfrm>
          <a:prstGeom prst="rect">
            <a:avLst/>
          </a:prstGeom>
          <a:noFill/>
        </p:spPr>
        <p:txBody>
          <a:bodyPr wrap="square" rtlCol="0">
            <a:spAutoFit/>
          </a:bodyPr>
          <a:lstStyle/>
          <a:p>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Simulink  diagram of Current Controller </a:t>
            </a:r>
            <a:r>
              <a:rPr lang="en-IN" sz="1800" dirty="0">
                <a:solidFill>
                  <a:schemeClr val="accent5">
                    <a:lumMod val="40000"/>
                    <a:lumOff val="60000"/>
                  </a:schemeClr>
                </a:solidFill>
                <a:latin typeface="Times New Roman" panose="02020603050405020304" pitchFamily="18" charset="0"/>
                <a:cs typeface="Times New Roman" panose="02020603050405020304" pitchFamily="18" charset="0"/>
              </a:rPr>
              <a:t>:-</a:t>
            </a:r>
          </a:p>
          <a:p>
            <a:endParaRPr lang="en-IN" dirty="0"/>
          </a:p>
        </p:txBody>
      </p:sp>
      <p:sp>
        <p:nvSpPr>
          <p:cNvPr id="12" name="TextBox 11">
            <a:extLst>
              <a:ext uri="{FF2B5EF4-FFF2-40B4-BE49-F238E27FC236}">
                <a16:creationId xmlns:a16="http://schemas.microsoft.com/office/drawing/2014/main" id="{C7908F27-82E8-C47A-8E60-5AFE4A4A8D9E}"/>
              </a:ext>
            </a:extLst>
          </p:cNvPr>
          <p:cNvSpPr txBox="1"/>
          <p:nvPr/>
        </p:nvSpPr>
        <p:spPr>
          <a:xfrm>
            <a:off x="4073236" y="5844984"/>
            <a:ext cx="4979324"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 9 :-Current controller for BLDC Motor </a:t>
            </a:r>
          </a:p>
        </p:txBody>
      </p:sp>
    </p:spTree>
    <p:extLst>
      <p:ext uri="{BB962C8B-B14F-4D97-AF65-F5344CB8AC3E}">
        <p14:creationId xmlns:p14="http://schemas.microsoft.com/office/powerpoint/2010/main" val="1238740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97502-3507-9E70-6516-5DE72D398D24}"/>
              </a:ext>
            </a:extLst>
          </p:cNvPr>
          <p:cNvSpPr>
            <a:spLocks noGrp="1"/>
          </p:cNvSpPr>
          <p:nvPr>
            <p:ph type="title"/>
          </p:nvPr>
        </p:nvSpPr>
        <p:spPr>
          <a:xfrm>
            <a:off x="838200" y="235974"/>
            <a:ext cx="10515600" cy="893248"/>
          </a:xfrm>
        </p:spPr>
        <p:txBody>
          <a:bodyPr/>
          <a:lstStyle/>
          <a:p>
            <a:r>
              <a:rPr lang="en-IN" sz="44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US" dirty="0">
              <a:solidFill>
                <a:schemeClr val="accent5">
                  <a:lumMod val="75000"/>
                </a:schemeClr>
              </a:solidFill>
            </a:endParaRPr>
          </a:p>
        </p:txBody>
      </p:sp>
      <p:sp>
        <p:nvSpPr>
          <p:cNvPr id="5" name="TextBox 4">
            <a:extLst>
              <a:ext uri="{FF2B5EF4-FFF2-40B4-BE49-F238E27FC236}">
                <a16:creationId xmlns:a16="http://schemas.microsoft.com/office/drawing/2014/main" id="{D960648B-8063-7237-D979-0E905A5E4809}"/>
              </a:ext>
            </a:extLst>
          </p:cNvPr>
          <p:cNvSpPr txBox="1"/>
          <p:nvPr/>
        </p:nvSpPr>
        <p:spPr>
          <a:xfrm>
            <a:off x="838200" y="1052052"/>
            <a:ext cx="10515600" cy="523220"/>
          </a:xfrm>
          <a:prstGeom prst="rect">
            <a:avLst/>
          </a:prstGeom>
          <a:noFill/>
        </p:spPr>
        <p:txBody>
          <a:bodyPr wrap="square" rtlCol="0">
            <a:spAutoFit/>
          </a:bodyPr>
          <a:lstStyle/>
          <a:p>
            <a:pPr marL="457200" indent="-4572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Result Analysis of Stator Currents :- </a:t>
            </a:r>
            <a:endParaRPr lang="en-US" sz="2800" dirty="0">
              <a:solidFill>
                <a:schemeClr val="accent5">
                  <a:lumMod val="40000"/>
                  <a:lumOff val="60000"/>
                </a:schemeClr>
              </a:solidFill>
            </a:endParaRPr>
          </a:p>
        </p:txBody>
      </p:sp>
      <p:sp>
        <p:nvSpPr>
          <p:cNvPr id="12" name="TextBox 11">
            <a:extLst>
              <a:ext uri="{FF2B5EF4-FFF2-40B4-BE49-F238E27FC236}">
                <a16:creationId xmlns:a16="http://schemas.microsoft.com/office/drawing/2014/main" id="{C69B5056-D199-B390-D985-158E02414D3B}"/>
              </a:ext>
            </a:extLst>
          </p:cNvPr>
          <p:cNvSpPr txBox="1"/>
          <p:nvPr/>
        </p:nvSpPr>
        <p:spPr>
          <a:xfrm>
            <a:off x="747252" y="5822726"/>
            <a:ext cx="10097729"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FIG.10</a:t>
            </a:r>
            <a:r>
              <a:rPr lang="en-IN" sz="1800"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Waveforms of Stator Currents</a:t>
            </a:r>
            <a:endParaRPr lang="en-IN" sz="1800" dirty="0">
              <a:latin typeface="Times New Roman" panose="02020603050405020304" pitchFamily="18" charset="0"/>
              <a:cs typeface="Times New Roman" panose="02020603050405020304" pitchFamily="18" charset="0"/>
            </a:endParaRPr>
          </a:p>
          <a:p>
            <a:endParaRPr lang="en-US" dirty="0"/>
          </a:p>
        </p:txBody>
      </p:sp>
      <p:pic>
        <p:nvPicPr>
          <p:cNvPr id="8" name="Content Placeholder 7">
            <a:extLst>
              <a:ext uri="{FF2B5EF4-FFF2-40B4-BE49-F238E27FC236}">
                <a16:creationId xmlns:a16="http://schemas.microsoft.com/office/drawing/2014/main" id="{1E15491F-9C2F-A796-A810-3844251EC1A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0451" y="1575273"/>
            <a:ext cx="9686562" cy="4247454"/>
          </a:xfrm>
        </p:spPr>
      </p:pic>
      <p:sp>
        <p:nvSpPr>
          <p:cNvPr id="9" name="TextBox 8">
            <a:extLst>
              <a:ext uri="{FF2B5EF4-FFF2-40B4-BE49-F238E27FC236}">
                <a16:creationId xmlns:a16="http://schemas.microsoft.com/office/drawing/2014/main" id="{F79FC018-716C-0927-E24F-3C23C1CBD574}"/>
              </a:ext>
            </a:extLst>
          </p:cNvPr>
          <p:cNvSpPr txBox="1"/>
          <p:nvPr/>
        </p:nvSpPr>
        <p:spPr>
          <a:xfrm>
            <a:off x="10275226" y="1848885"/>
            <a:ext cx="1764267" cy="646331"/>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Stator Current Parameters</a:t>
            </a:r>
          </a:p>
          <a:p>
            <a:r>
              <a:rPr lang="en-IN" sz="1200" dirty="0">
                <a:latin typeface="Times New Roman" panose="02020603050405020304" pitchFamily="18" charset="0"/>
                <a:cs typeface="Times New Roman" panose="02020603050405020304" pitchFamily="18" charset="0"/>
              </a:rPr>
              <a:t>Current=31.57A</a:t>
            </a:r>
          </a:p>
        </p:txBody>
      </p:sp>
    </p:spTree>
    <p:extLst>
      <p:ext uri="{BB962C8B-B14F-4D97-AF65-F5344CB8AC3E}">
        <p14:creationId xmlns:p14="http://schemas.microsoft.com/office/powerpoint/2010/main" val="633812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ABF07-BA8C-09A3-FF51-3B7933A23CD0}"/>
              </a:ext>
            </a:extLst>
          </p:cNvPr>
          <p:cNvSpPr>
            <a:spLocks noGrp="1"/>
          </p:cNvSpPr>
          <p:nvPr>
            <p:ph idx="1"/>
          </p:nvPr>
        </p:nvSpPr>
        <p:spPr>
          <a:xfrm>
            <a:off x="663633" y="1493116"/>
            <a:ext cx="10515600" cy="435133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[FIG.10] </a:t>
            </a:r>
            <a:r>
              <a:rPr lang="en-US" sz="2000" dirty="0">
                <a:latin typeface="Times New Roman" panose="02020603050405020304" pitchFamily="18" charset="0"/>
                <a:cs typeface="Times New Roman" panose="02020603050405020304" pitchFamily="18" charset="0"/>
              </a:rPr>
              <a:t>shows the stator current profiles for the three phases (</a:t>
            </a:r>
            <a:r>
              <a:rPr lang="en-US" sz="2000" dirty="0" err="1">
                <a:latin typeface="Times New Roman" panose="02020603050405020304" pitchFamily="18" charset="0"/>
                <a:cs typeface="Times New Roman" panose="02020603050405020304" pitchFamily="18" charset="0"/>
              </a:rPr>
              <a:t>Ia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Ic</a:t>
            </a:r>
            <a:r>
              <a:rPr lang="en-US" sz="2000" dirty="0">
                <a:latin typeface="Times New Roman" panose="02020603050405020304" pitchFamily="18" charset="0"/>
                <a:cs typeface="Times New Roman" panose="02020603050405020304" pitchFamily="18" charset="0"/>
              </a:rPr>
              <a:t>) of a BLDC motor used in a solar-powered vehicle This means that each phase conducts current for 120 electrical degrees while remaining off for the other 240°, resulting in a stepped waveform with distinct flat tops and zero-current intervals. The waveforms are 120° out of phase with each other, ensuring smooth torque production. The current shapes indicate that electronic commutation is functioning correctly, and the inverter is switching the motor windings properly in response to rotor position. These currents represent the motor drawing power from the battery (as seen in the earlier battery plot) to drive the vehicle.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4749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FEFDC-2ACA-0DBB-FA15-EC64080A584F}"/>
              </a:ext>
            </a:extLst>
          </p:cNvPr>
          <p:cNvSpPr>
            <a:spLocks noGrp="1"/>
          </p:cNvSpPr>
          <p:nvPr>
            <p:ph type="title"/>
          </p:nvPr>
        </p:nvSpPr>
        <p:spPr>
          <a:xfrm>
            <a:off x="481781" y="88489"/>
            <a:ext cx="10872019" cy="1327355"/>
          </a:xfrm>
        </p:spPr>
        <p:txBody>
          <a:bodyPr>
            <a:normAutofit/>
          </a:body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US" sz="4000" dirty="0">
              <a:solidFill>
                <a:schemeClr val="accent5">
                  <a:lumMod val="75000"/>
                </a:schemeClr>
              </a:solidFill>
            </a:endParaRPr>
          </a:p>
        </p:txBody>
      </p:sp>
      <p:sp>
        <p:nvSpPr>
          <p:cNvPr id="4" name="TextBox 3">
            <a:extLst>
              <a:ext uri="{FF2B5EF4-FFF2-40B4-BE49-F238E27FC236}">
                <a16:creationId xmlns:a16="http://schemas.microsoft.com/office/drawing/2014/main" id="{7B217CA4-8F05-D2ED-61EF-C930B4D49C97}"/>
              </a:ext>
            </a:extLst>
          </p:cNvPr>
          <p:cNvSpPr txBox="1"/>
          <p:nvPr/>
        </p:nvSpPr>
        <p:spPr>
          <a:xfrm>
            <a:off x="838200" y="1051331"/>
            <a:ext cx="9367684" cy="892552"/>
          </a:xfrm>
          <a:prstGeom prst="rect">
            <a:avLst/>
          </a:prstGeom>
          <a:noFill/>
        </p:spPr>
        <p:txBody>
          <a:bodyPr wrap="square" rtlCol="0">
            <a:spAutoFit/>
          </a:bodyPr>
          <a:lstStyle/>
          <a:p>
            <a:pPr marL="342900" indent="-3429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Simulink  diagram of Speed Controller :-</a:t>
            </a:r>
          </a:p>
          <a:p>
            <a:endParaRPr lang="en-US"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9572153-1BDA-188A-26DB-6C09768FE000}"/>
              </a:ext>
            </a:extLst>
          </p:cNvPr>
          <p:cNvSpPr txBox="1"/>
          <p:nvPr/>
        </p:nvSpPr>
        <p:spPr>
          <a:xfrm>
            <a:off x="1071716" y="5663381"/>
            <a:ext cx="8534400" cy="677108"/>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     FIG.10:- Simulink  diagram of Speed Controller </a:t>
            </a:r>
            <a:endParaRPr lang="en-IN" sz="1800" dirty="0">
              <a:latin typeface="Times New Roman" panose="02020603050405020304" pitchFamily="18" charset="0"/>
              <a:cs typeface="Times New Roman" panose="02020603050405020304" pitchFamily="18" charset="0"/>
            </a:endParaRPr>
          </a:p>
          <a:p>
            <a:endParaRPr lang="en-US" dirty="0"/>
          </a:p>
        </p:txBody>
      </p:sp>
      <p:pic>
        <p:nvPicPr>
          <p:cNvPr id="11" name="Picture 10">
            <a:extLst>
              <a:ext uri="{FF2B5EF4-FFF2-40B4-BE49-F238E27FC236}">
                <a16:creationId xmlns:a16="http://schemas.microsoft.com/office/drawing/2014/main" id="{DB7C9577-79E8-3A09-3D06-DB58A0F2DF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025" y="1943883"/>
            <a:ext cx="11039302" cy="3340481"/>
          </a:xfrm>
          <a:prstGeom prst="rect">
            <a:avLst/>
          </a:prstGeom>
        </p:spPr>
      </p:pic>
    </p:spTree>
    <p:extLst>
      <p:ext uri="{BB962C8B-B14F-4D97-AF65-F5344CB8AC3E}">
        <p14:creationId xmlns:p14="http://schemas.microsoft.com/office/powerpoint/2010/main" val="3551755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51701-8E62-384D-1D02-B36C3EC64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C3C0E6-C10C-38BC-E5AD-26E445188D1E}"/>
              </a:ext>
            </a:extLst>
          </p:cNvPr>
          <p:cNvSpPr>
            <a:spLocks noGrp="1"/>
          </p:cNvSpPr>
          <p:nvPr>
            <p:ph type="title"/>
          </p:nvPr>
        </p:nvSpPr>
        <p:spPr>
          <a:xfrm>
            <a:off x="838200" y="235974"/>
            <a:ext cx="10515600" cy="893248"/>
          </a:xfrm>
        </p:spPr>
        <p:txBody>
          <a:bodyPr/>
          <a:lstStyle/>
          <a:p>
            <a:r>
              <a:rPr lang="en-IN" sz="44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US" dirty="0">
              <a:solidFill>
                <a:schemeClr val="accent5">
                  <a:lumMod val="75000"/>
                </a:schemeClr>
              </a:solidFill>
            </a:endParaRPr>
          </a:p>
        </p:txBody>
      </p:sp>
      <p:sp>
        <p:nvSpPr>
          <p:cNvPr id="5" name="TextBox 4">
            <a:extLst>
              <a:ext uri="{FF2B5EF4-FFF2-40B4-BE49-F238E27FC236}">
                <a16:creationId xmlns:a16="http://schemas.microsoft.com/office/drawing/2014/main" id="{538D6C62-FC5B-C580-CE8C-61EF2BEAFBF6}"/>
              </a:ext>
            </a:extLst>
          </p:cNvPr>
          <p:cNvSpPr txBox="1"/>
          <p:nvPr/>
        </p:nvSpPr>
        <p:spPr>
          <a:xfrm>
            <a:off x="838200" y="1052052"/>
            <a:ext cx="10515600" cy="523220"/>
          </a:xfrm>
          <a:prstGeom prst="rect">
            <a:avLst/>
          </a:prstGeom>
          <a:noFill/>
        </p:spPr>
        <p:txBody>
          <a:bodyPr wrap="square" rtlCol="0">
            <a:spAutoFit/>
          </a:bodyPr>
          <a:lstStyle/>
          <a:p>
            <a:pPr marL="457200" indent="-4572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Result Analysis of Motor Speed and Torque:- </a:t>
            </a:r>
            <a:endParaRPr lang="en-US" sz="2800" dirty="0">
              <a:solidFill>
                <a:schemeClr val="accent5">
                  <a:lumMod val="40000"/>
                  <a:lumOff val="60000"/>
                </a:schemeClr>
              </a:solidFill>
            </a:endParaRPr>
          </a:p>
        </p:txBody>
      </p:sp>
      <p:sp>
        <p:nvSpPr>
          <p:cNvPr id="6" name="TextBox 5">
            <a:extLst>
              <a:ext uri="{FF2B5EF4-FFF2-40B4-BE49-F238E27FC236}">
                <a16:creationId xmlns:a16="http://schemas.microsoft.com/office/drawing/2014/main" id="{570FF14D-748E-E3FF-E065-33600A3A7A76}"/>
              </a:ext>
            </a:extLst>
          </p:cNvPr>
          <p:cNvSpPr txBox="1"/>
          <p:nvPr/>
        </p:nvSpPr>
        <p:spPr>
          <a:xfrm>
            <a:off x="963561" y="5732206"/>
            <a:ext cx="10186220"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FIG.11</a:t>
            </a:r>
            <a:r>
              <a:rPr lang="en-IN" sz="1800"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waveforms of motor speed and torque</a:t>
            </a:r>
            <a:endParaRPr lang="en-IN" sz="1800"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2D904632-364D-5EDA-7B82-EE4FC7ED58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0481" y="1634009"/>
            <a:ext cx="9955692" cy="1931035"/>
          </a:xfrm>
        </p:spPr>
      </p:pic>
      <p:pic>
        <p:nvPicPr>
          <p:cNvPr id="13" name="Picture 12">
            <a:extLst>
              <a:ext uri="{FF2B5EF4-FFF2-40B4-BE49-F238E27FC236}">
                <a16:creationId xmlns:a16="http://schemas.microsoft.com/office/drawing/2014/main" id="{2B529BF3-0134-A0C6-364E-58BD3407290C}"/>
              </a:ext>
            </a:extLst>
          </p:cNvPr>
          <p:cNvPicPr>
            <a:picLocks noChangeAspect="1"/>
          </p:cNvPicPr>
          <p:nvPr/>
        </p:nvPicPr>
        <p:blipFill>
          <a:blip r:embed="rId3">
            <a:extLst>
              <a:ext uri="{28A0092B-C50C-407E-A947-70E740481C1C}">
                <a14:useLocalDpi xmlns:a14="http://schemas.microsoft.com/office/drawing/2010/main" val="0"/>
              </a:ext>
            </a:extLst>
          </a:blip>
          <a:srcRect l="323" t="1510" r="-323" b="47067"/>
          <a:stretch/>
        </p:blipFill>
        <p:spPr>
          <a:xfrm>
            <a:off x="704676" y="3742434"/>
            <a:ext cx="9861496" cy="2067079"/>
          </a:xfrm>
          <a:prstGeom prst="rect">
            <a:avLst/>
          </a:prstGeom>
        </p:spPr>
      </p:pic>
      <p:sp>
        <p:nvSpPr>
          <p:cNvPr id="3" name="TextBox 2">
            <a:extLst>
              <a:ext uri="{FF2B5EF4-FFF2-40B4-BE49-F238E27FC236}">
                <a16:creationId xmlns:a16="http://schemas.microsoft.com/office/drawing/2014/main" id="{AE4F1E57-731E-EE4E-C061-FA74EB970FA1}"/>
              </a:ext>
            </a:extLst>
          </p:cNvPr>
          <p:cNvSpPr txBox="1"/>
          <p:nvPr/>
        </p:nvSpPr>
        <p:spPr>
          <a:xfrm>
            <a:off x="10471666" y="2105314"/>
            <a:ext cx="1764267" cy="461665"/>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Speed=(0-2500)R.P.M</a:t>
            </a:r>
          </a:p>
          <a:p>
            <a:r>
              <a:rPr lang="en-IN" sz="1200" b="1" dirty="0">
                <a:latin typeface="Times New Roman" panose="02020603050405020304" pitchFamily="18" charset="0"/>
                <a:cs typeface="Times New Roman" panose="02020603050405020304" pitchFamily="18" charset="0"/>
              </a:rPr>
              <a:t>Torque=8 N-m</a:t>
            </a:r>
          </a:p>
        </p:txBody>
      </p:sp>
    </p:spTree>
    <p:extLst>
      <p:ext uri="{BB962C8B-B14F-4D97-AF65-F5344CB8AC3E}">
        <p14:creationId xmlns:p14="http://schemas.microsoft.com/office/powerpoint/2010/main" val="401529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13F226-E62A-2F22-108C-8B9A2EDF4138}"/>
              </a:ext>
            </a:extLst>
          </p:cNvPr>
          <p:cNvSpPr>
            <a:spLocks noGrp="1"/>
          </p:cNvSpPr>
          <p:nvPr>
            <p:ph idx="1"/>
          </p:nvPr>
        </p:nvSpPr>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 [FIG.11] shows that the motor follows a controlled speed profile, gradually accelerating to a peak speed of 2500 RPM, maintaining steady operation, and then decelerating as expected. The corresponding torque waveform indicates a relatively stable electromagnetic torque output around 8Nm. Overall, the waveforms demonstrate effective motor performance under varying speed conditions, confirming the reliability and stability of the control strategy implemented.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9333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E2FFA-B609-A4A1-1CB0-77F9CABCD7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97661-94A3-1FD7-A0DA-021FCDA09A3D}"/>
              </a:ext>
            </a:extLst>
          </p:cNvPr>
          <p:cNvSpPr>
            <a:spLocks noGrp="1"/>
          </p:cNvSpPr>
          <p:nvPr>
            <p:ph type="title"/>
          </p:nvPr>
        </p:nvSpPr>
        <p:spPr>
          <a:xfrm>
            <a:off x="838200" y="0"/>
            <a:ext cx="10515600" cy="1445342"/>
          </a:xfrm>
        </p:spPr>
        <p:txBody>
          <a:bodyPr>
            <a:normAutofit/>
          </a:body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US" sz="4000" dirty="0">
              <a:solidFill>
                <a:schemeClr val="accent5">
                  <a:lumMod val="75000"/>
                </a:schemeClr>
              </a:solidFill>
            </a:endParaRPr>
          </a:p>
        </p:txBody>
      </p:sp>
      <p:sp>
        <p:nvSpPr>
          <p:cNvPr id="5" name="TextBox 4">
            <a:extLst>
              <a:ext uri="{FF2B5EF4-FFF2-40B4-BE49-F238E27FC236}">
                <a16:creationId xmlns:a16="http://schemas.microsoft.com/office/drawing/2014/main" id="{8447B4DE-6FDE-8D2C-A82A-9817AE3784BA}"/>
              </a:ext>
            </a:extLst>
          </p:cNvPr>
          <p:cNvSpPr txBox="1"/>
          <p:nvPr/>
        </p:nvSpPr>
        <p:spPr>
          <a:xfrm>
            <a:off x="838200" y="1061884"/>
            <a:ext cx="10515600" cy="523220"/>
          </a:xfrm>
          <a:prstGeom prst="rect">
            <a:avLst/>
          </a:prstGeom>
          <a:noFill/>
        </p:spPr>
        <p:txBody>
          <a:bodyPr wrap="square" rtlCol="0">
            <a:spAutoFit/>
          </a:bodyPr>
          <a:lstStyle/>
          <a:p>
            <a:pPr marL="457200" indent="-4572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Simulink  diagram  :- </a:t>
            </a:r>
            <a:endParaRPr lang="en-US" sz="2800" dirty="0">
              <a:solidFill>
                <a:schemeClr val="accent5">
                  <a:lumMod val="40000"/>
                  <a:lumOff val="60000"/>
                </a:schemeClr>
              </a:solidFill>
            </a:endParaRPr>
          </a:p>
        </p:txBody>
      </p:sp>
      <p:sp>
        <p:nvSpPr>
          <p:cNvPr id="8" name="TextBox 7">
            <a:extLst>
              <a:ext uri="{FF2B5EF4-FFF2-40B4-BE49-F238E27FC236}">
                <a16:creationId xmlns:a16="http://schemas.microsoft.com/office/drawing/2014/main" id="{8CC2D87A-D7ED-20B3-8A75-0764EFE72720}"/>
              </a:ext>
            </a:extLst>
          </p:cNvPr>
          <p:cNvSpPr txBox="1"/>
          <p:nvPr/>
        </p:nvSpPr>
        <p:spPr>
          <a:xfrm>
            <a:off x="1091381" y="5796116"/>
            <a:ext cx="8544232" cy="646331"/>
          </a:xfrm>
          <a:prstGeom prst="rect">
            <a:avLst/>
          </a:prstGeom>
          <a:noFill/>
        </p:spPr>
        <p:txBody>
          <a:bodyPr wrap="square" rtlCol="0">
            <a:spAutoFit/>
          </a:bodyPr>
          <a:lstStyle/>
          <a:p>
            <a:pPr algn="ctr"/>
            <a:r>
              <a:rPr lang="en-IN" sz="1800" dirty="0">
                <a:latin typeface="Times New Roman" panose="02020603050405020304" pitchFamily="18" charset="0"/>
                <a:cs typeface="Times New Roman" panose="02020603050405020304" pitchFamily="18" charset="0"/>
              </a:rPr>
              <a:t>FIG.12:- Simulink  diagram  </a:t>
            </a:r>
          </a:p>
          <a:p>
            <a:endParaRPr lang="en-US" dirty="0"/>
          </a:p>
        </p:txBody>
      </p:sp>
      <p:pic>
        <p:nvPicPr>
          <p:cNvPr id="7" name="Content Placeholder 6">
            <a:extLst>
              <a:ext uri="{FF2B5EF4-FFF2-40B4-BE49-F238E27FC236}">
                <a16:creationId xmlns:a16="http://schemas.microsoft.com/office/drawing/2014/main" id="{34374D7C-58F4-4DD1-4150-5F54B44FF7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7898" y="1585105"/>
            <a:ext cx="10665902" cy="4270412"/>
          </a:xfrm>
        </p:spPr>
      </p:pic>
    </p:spTree>
    <p:extLst>
      <p:ext uri="{BB962C8B-B14F-4D97-AF65-F5344CB8AC3E}">
        <p14:creationId xmlns:p14="http://schemas.microsoft.com/office/powerpoint/2010/main" val="145701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544F0-5AF3-1FA8-D934-5E6D3CA05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0B510-6C5B-E275-BC3C-CD1A664607E0}"/>
              </a:ext>
            </a:extLst>
          </p:cNvPr>
          <p:cNvSpPr>
            <a:spLocks noGrp="1"/>
          </p:cNvSpPr>
          <p:nvPr>
            <p:ph type="title"/>
          </p:nvPr>
        </p:nvSpPr>
        <p:spPr>
          <a:xfrm>
            <a:off x="838200" y="0"/>
            <a:ext cx="10515600" cy="1445342"/>
          </a:xfrm>
        </p:spPr>
        <p:txBody>
          <a:bodyPr>
            <a:normAutofit/>
          </a:body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US" sz="4000" dirty="0">
              <a:solidFill>
                <a:schemeClr val="accent5">
                  <a:lumMod val="75000"/>
                </a:schemeClr>
              </a:solidFill>
            </a:endParaRPr>
          </a:p>
        </p:txBody>
      </p:sp>
      <p:sp>
        <p:nvSpPr>
          <p:cNvPr id="5" name="TextBox 4">
            <a:extLst>
              <a:ext uri="{FF2B5EF4-FFF2-40B4-BE49-F238E27FC236}">
                <a16:creationId xmlns:a16="http://schemas.microsoft.com/office/drawing/2014/main" id="{BCEBD6A8-91D4-0BE7-2042-2F5848CD1AE1}"/>
              </a:ext>
            </a:extLst>
          </p:cNvPr>
          <p:cNvSpPr txBox="1"/>
          <p:nvPr/>
        </p:nvSpPr>
        <p:spPr>
          <a:xfrm>
            <a:off x="838200" y="1061884"/>
            <a:ext cx="10515600" cy="861774"/>
          </a:xfrm>
          <a:prstGeom prst="rect">
            <a:avLst/>
          </a:prstGeom>
          <a:noFill/>
        </p:spPr>
        <p:txBody>
          <a:bodyPr wrap="square" rtlCol="0">
            <a:spAutoFit/>
          </a:bodyPr>
          <a:lstStyle/>
          <a:p>
            <a:pPr marL="457200" indent="-4572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Monitoring System  :-</a:t>
            </a:r>
          </a:p>
          <a:p>
            <a:r>
              <a:rPr lang="en-IN" sz="2200" b="1" dirty="0">
                <a:latin typeface="Times New Roman" panose="02020603050405020304" pitchFamily="18" charset="0"/>
                <a:cs typeface="Times New Roman" panose="02020603050405020304" pitchFamily="18" charset="0"/>
              </a:rPr>
              <a:t>SMTP Code </a:t>
            </a:r>
            <a:endParaRPr lang="en-US" sz="2200" b="1" dirty="0"/>
          </a:p>
        </p:txBody>
      </p:sp>
      <p:sp>
        <p:nvSpPr>
          <p:cNvPr id="9" name="TextBox 8">
            <a:extLst>
              <a:ext uri="{FF2B5EF4-FFF2-40B4-BE49-F238E27FC236}">
                <a16:creationId xmlns:a16="http://schemas.microsoft.com/office/drawing/2014/main" id="{64BDA314-0F06-1754-4A0D-5F84C35FD6D3}"/>
              </a:ext>
            </a:extLst>
          </p:cNvPr>
          <p:cNvSpPr txBox="1"/>
          <p:nvPr/>
        </p:nvSpPr>
        <p:spPr>
          <a:xfrm>
            <a:off x="745922" y="1901216"/>
            <a:ext cx="6220144" cy="2785378"/>
          </a:xfrm>
          <a:prstGeom prst="rect">
            <a:avLst/>
          </a:prstGeom>
          <a:noFill/>
        </p:spPr>
        <p:txBody>
          <a:bodyPr wrap="square">
            <a:spAutoFit/>
          </a:bodyPr>
          <a:lstStyle/>
          <a:p>
            <a:pPr>
              <a:lnSpc>
                <a:spcPts val="1425"/>
              </a:lnSpc>
              <a:buNone/>
            </a:pPr>
            <a:r>
              <a:rPr lang="en-IN" sz="1200" b="0" dirty="0">
                <a:solidFill>
                  <a:srgbClr val="AF00DB"/>
                </a:solidFill>
                <a:effectLst/>
                <a:latin typeface="Times New Roman" panose="02020603050405020304" pitchFamily="18" charset="0"/>
                <a:cs typeface="Times New Roman" panose="02020603050405020304" pitchFamily="18" charset="0"/>
              </a:rPr>
              <a:t>import</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smtplib</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AF00DB"/>
                </a:solidFill>
                <a:effectLst/>
                <a:latin typeface="Times New Roman" panose="02020603050405020304" pitchFamily="18" charset="0"/>
                <a:cs typeface="Times New Roman" panose="02020603050405020304" pitchFamily="18" charset="0"/>
              </a:rPr>
              <a:t>import</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os</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AF00DB"/>
                </a:solidFill>
                <a:effectLst/>
                <a:latin typeface="Times New Roman" panose="02020603050405020304" pitchFamily="18" charset="0"/>
                <a:cs typeface="Times New Roman" panose="02020603050405020304" pitchFamily="18" charset="0"/>
              </a:rPr>
              <a:t>from</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email.message</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AF00DB"/>
                </a:solidFill>
                <a:effectLst/>
                <a:latin typeface="Times New Roman" panose="02020603050405020304" pitchFamily="18" charset="0"/>
                <a:cs typeface="Times New Roman" panose="02020603050405020304" pitchFamily="18" charset="0"/>
              </a:rPr>
              <a:t>import</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EmailMessage</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AF00DB"/>
                </a:solidFill>
                <a:effectLst/>
                <a:latin typeface="Times New Roman" panose="02020603050405020304" pitchFamily="18" charset="0"/>
                <a:cs typeface="Times New Roman" panose="02020603050405020304" pitchFamily="18" charset="0"/>
              </a:rPr>
              <a:t>from</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ipywidgets</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AF00DB"/>
                </a:solidFill>
                <a:effectLst/>
                <a:latin typeface="Times New Roman" panose="02020603050405020304" pitchFamily="18" charset="0"/>
                <a:cs typeface="Times New Roman" panose="02020603050405020304" pitchFamily="18" charset="0"/>
              </a:rPr>
              <a:t>import</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FileUpload</a:t>
            </a:r>
            <a:r>
              <a:rPr lang="en-IN" sz="1200" b="0" dirty="0">
                <a:solidFill>
                  <a:srgbClr val="000000"/>
                </a:solidFill>
                <a:effectLst/>
                <a:latin typeface="Times New Roman" panose="02020603050405020304" pitchFamily="18" charset="0"/>
                <a:cs typeface="Times New Roman" panose="02020603050405020304" pitchFamily="18" charset="0"/>
              </a:rPr>
              <a:t>, Text, Password, Button, </a:t>
            </a:r>
            <a:r>
              <a:rPr lang="en-IN" sz="1200" b="0" dirty="0" err="1">
                <a:solidFill>
                  <a:srgbClr val="000000"/>
                </a:solidFill>
                <a:effectLst/>
                <a:latin typeface="Times New Roman" panose="02020603050405020304" pitchFamily="18" charset="0"/>
                <a:cs typeface="Times New Roman" panose="02020603050405020304" pitchFamily="18" charset="0"/>
              </a:rPr>
              <a:t>VBox</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AF00DB"/>
                </a:solidFill>
                <a:effectLst/>
                <a:latin typeface="Times New Roman" panose="02020603050405020304" pitchFamily="18" charset="0"/>
                <a:cs typeface="Times New Roman" panose="02020603050405020304" pitchFamily="18" charset="0"/>
              </a:rPr>
              <a:t>from</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IPython.display</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AF00DB"/>
                </a:solidFill>
                <a:effectLst/>
                <a:latin typeface="Times New Roman" panose="02020603050405020304" pitchFamily="18" charset="0"/>
                <a:cs typeface="Times New Roman" panose="02020603050405020304" pitchFamily="18" charset="0"/>
              </a:rPr>
              <a:t>import</a:t>
            </a:r>
            <a:r>
              <a:rPr lang="en-IN" sz="1200" b="0" dirty="0">
                <a:solidFill>
                  <a:srgbClr val="000000"/>
                </a:solidFill>
                <a:effectLst/>
                <a:latin typeface="Times New Roman" panose="02020603050405020304" pitchFamily="18" charset="0"/>
                <a:cs typeface="Times New Roman" panose="02020603050405020304" pitchFamily="18" charset="0"/>
              </a:rPr>
              <a:t> display</a:t>
            </a:r>
          </a:p>
          <a:p>
            <a:pPr>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8000"/>
                </a:solidFill>
                <a:effectLst/>
                <a:latin typeface="Times New Roman" panose="02020603050405020304" pitchFamily="18" charset="0"/>
                <a:cs typeface="Times New Roman" panose="02020603050405020304" pitchFamily="18" charset="0"/>
              </a:rPr>
              <a:t># Create widgets</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err="1">
                <a:solidFill>
                  <a:srgbClr val="000000"/>
                </a:solidFill>
                <a:effectLst/>
                <a:latin typeface="Times New Roman" panose="02020603050405020304" pitchFamily="18" charset="0"/>
                <a:cs typeface="Times New Roman" panose="02020603050405020304" pitchFamily="18" charset="0"/>
              </a:rPr>
              <a:t>upload_widget</a:t>
            </a:r>
            <a:r>
              <a:rPr lang="en-IN" sz="1200" b="0" dirty="0">
                <a:solidFill>
                  <a:srgbClr val="000000"/>
                </a:solidFill>
                <a:effectLst/>
                <a:latin typeface="Times New Roman" panose="02020603050405020304" pitchFamily="18" charset="0"/>
                <a:cs typeface="Times New Roman" panose="02020603050405020304" pitchFamily="18" charset="0"/>
              </a:rPr>
              <a:t> = </a:t>
            </a:r>
            <a:r>
              <a:rPr lang="en-IN" sz="1200" b="0" dirty="0" err="1">
                <a:solidFill>
                  <a:srgbClr val="000000"/>
                </a:solidFill>
                <a:effectLst/>
                <a:latin typeface="Times New Roman" panose="02020603050405020304" pitchFamily="18" charset="0"/>
                <a:cs typeface="Times New Roman" panose="02020603050405020304" pitchFamily="18" charset="0"/>
              </a:rPr>
              <a:t>FileUpload</a:t>
            </a:r>
            <a:r>
              <a:rPr lang="en-IN" sz="1200" b="0" dirty="0">
                <a:solidFill>
                  <a:srgbClr val="000000"/>
                </a:solidFill>
                <a:effectLst/>
                <a:latin typeface="Times New Roman" panose="02020603050405020304" pitchFamily="18" charset="0"/>
                <a:cs typeface="Times New Roman" panose="02020603050405020304" pitchFamily="18" charset="0"/>
              </a:rPr>
              <a:t>(accept=</a:t>
            </a:r>
            <a:r>
              <a:rPr lang="en-IN" sz="1200" b="0" dirty="0">
                <a:solidFill>
                  <a:srgbClr val="A31515"/>
                </a:solidFill>
                <a:effectLst/>
                <a:latin typeface="Times New Roman" panose="02020603050405020304" pitchFamily="18" charset="0"/>
                <a:cs typeface="Times New Roman" panose="02020603050405020304" pitchFamily="18" charset="0"/>
              </a:rPr>
              <a:t>".jpg"</a:t>
            </a:r>
            <a:r>
              <a:rPr lang="en-IN" sz="1200" b="0" dirty="0">
                <a:solidFill>
                  <a:srgbClr val="000000"/>
                </a:solidFill>
                <a:effectLst/>
                <a:latin typeface="Times New Roman" panose="02020603050405020304" pitchFamily="18" charset="0"/>
                <a:cs typeface="Times New Roman" panose="02020603050405020304" pitchFamily="18" charset="0"/>
              </a:rPr>
              <a:t>, multiple=</a:t>
            </a:r>
            <a:r>
              <a:rPr lang="en-IN" sz="1200" b="0" dirty="0">
                <a:solidFill>
                  <a:srgbClr val="0000FF"/>
                </a:solidFill>
                <a:effectLst/>
                <a:latin typeface="Times New Roman" panose="02020603050405020304" pitchFamily="18" charset="0"/>
                <a:cs typeface="Times New Roman" panose="02020603050405020304" pitchFamily="18" charset="0"/>
              </a:rPr>
              <a:t>False</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008000"/>
                </a:solidFill>
                <a:effectLst/>
                <a:latin typeface="Times New Roman" panose="02020603050405020304" pitchFamily="18" charset="0"/>
                <a:cs typeface="Times New Roman" panose="02020603050405020304" pitchFamily="18" charset="0"/>
              </a:rPr>
              <a:t># Accept only .jpg images</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err="1">
                <a:solidFill>
                  <a:srgbClr val="000000"/>
                </a:solidFill>
                <a:effectLst/>
                <a:latin typeface="Times New Roman" panose="02020603050405020304" pitchFamily="18" charset="0"/>
                <a:cs typeface="Times New Roman" panose="02020603050405020304" pitchFamily="18" charset="0"/>
              </a:rPr>
              <a:t>sender_email</a:t>
            </a:r>
            <a:r>
              <a:rPr lang="en-IN" sz="1200" b="0" dirty="0">
                <a:solidFill>
                  <a:srgbClr val="000000"/>
                </a:solidFill>
                <a:effectLst/>
                <a:latin typeface="Times New Roman" panose="02020603050405020304" pitchFamily="18" charset="0"/>
                <a:cs typeface="Times New Roman" panose="02020603050405020304" pitchFamily="18" charset="0"/>
              </a:rPr>
              <a:t> = Text(description=</a:t>
            </a:r>
            <a:r>
              <a:rPr lang="en-IN" sz="1200" b="0" dirty="0">
                <a:solidFill>
                  <a:srgbClr val="A31515"/>
                </a:solidFill>
                <a:effectLst/>
                <a:latin typeface="Times New Roman" panose="02020603050405020304" pitchFamily="18" charset="0"/>
                <a:cs typeface="Times New Roman" panose="02020603050405020304" pitchFamily="18" charset="0"/>
              </a:rPr>
              <a:t>"Sender Email:"</a:t>
            </a:r>
            <a:r>
              <a:rPr lang="en-IN" sz="1200" b="0" dirty="0">
                <a:solidFill>
                  <a:srgbClr val="000000"/>
                </a:solidFill>
                <a:effectLst/>
                <a:latin typeface="Times New Roman" panose="02020603050405020304" pitchFamily="18" charset="0"/>
                <a:cs typeface="Times New Roman" panose="02020603050405020304" pitchFamily="18" charset="0"/>
              </a:rPr>
              <a:t>, placeholder=</a:t>
            </a:r>
            <a:r>
              <a:rPr lang="en-IN" sz="1200" b="0" dirty="0">
                <a:solidFill>
                  <a:srgbClr val="A31515"/>
                </a:solidFill>
                <a:effectLst/>
                <a:latin typeface="Times New Roman" panose="02020603050405020304" pitchFamily="18" charset="0"/>
                <a:cs typeface="Times New Roman" panose="02020603050405020304" pitchFamily="18" charset="0"/>
              </a:rPr>
              <a:t>"your_email@gmail.com"</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r>
              <a:rPr lang="en-IN" sz="1200" b="0" dirty="0" err="1">
                <a:solidFill>
                  <a:srgbClr val="000000"/>
                </a:solidFill>
                <a:effectLst/>
                <a:latin typeface="Times New Roman" panose="02020603050405020304" pitchFamily="18" charset="0"/>
                <a:cs typeface="Times New Roman" panose="02020603050405020304" pitchFamily="18" charset="0"/>
              </a:rPr>
              <a:t>sender_password</a:t>
            </a:r>
            <a:r>
              <a:rPr lang="en-IN" sz="1200" b="0" dirty="0">
                <a:solidFill>
                  <a:srgbClr val="000000"/>
                </a:solidFill>
                <a:effectLst/>
                <a:latin typeface="Times New Roman" panose="02020603050405020304" pitchFamily="18" charset="0"/>
                <a:cs typeface="Times New Roman" panose="02020603050405020304" pitchFamily="18" charset="0"/>
              </a:rPr>
              <a:t> = Password(description=</a:t>
            </a:r>
            <a:r>
              <a:rPr lang="en-IN" sz="1200" b="0" dirty="0">
                <a:solidFill>
                  <a:srgbClr val="A31515"/>
                </a:solidFill>
                <a:effectLst/>
                <a:latin typeface="Times New Roman" panose="02020603050405020304" pitchFamily="18" charset="0"/>
                <a:cs typeface="Times New Roman" panose="02020603050405020304" pitchFamily="18" charset="0"/>
              </a:rPr>
              <a:t>"App Password:"</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r>
              <a:rPr lang="en-IN" sz="1200" b="0" dirty="0" err="1">
                <a:solidFill>
                  <a:srgbClr val="000000"/>
                </a:solidFill>
                <a:effectLst/>
                <a:latin typeface="Times New Roman" panose="02020603050405020304" pitchFamily="18" charset="0"/>
                <a:cs typeface="Times New Roman" panose="02020603050405020304" pitchFamily="18" charset="0"/>
              </a:rPr>
              <a:t>receiver_email</a:t>
            </a:r>
            <a:r>
              <a:rPr lang="en-IN" sz="1200" b="0" dirty="0">
                <a:solidFill>
                  <a:srgbClr val="000000"/>
                </a:solidFill>
                <a:effectLst/>
                <a:latin typeface="Times New Roman" panose="02020603050405020304" pitchFamily="18" charset="0"/>
                <a:cs typeface="Times New Roman" panose="02020603050405020304" pitchFamily="18" charset="0"/>
              </a:rPr>
              <a:t> = Text(description=</a:t>
            </a:r>
            <a:r>
              <a:rPr lang="en-IN" sz="1200" b="0" dirty="0">
                <a:solidFill>
                  <a:srgbClr val="A31515"/>
                </a:solidFill>
                <a:effectLst/>
                <a:latin typeface="Times New Roman" panose="02020603050405020304" pitchFamily="18" charset="0"/>
                <a:cs typeface="Times New Roman" panose="02020603050405020304" pitchFamily="18" charset="0"/>
              </a:rPr>
              <a:t>"Receiver Email:"</a:t>
            </a:r>
            <a:r>
              <a:rPr lang="en-IN" sz="1200" b="0" dirty="0">
                <a:solidFill>
                  <a:srgbClr val="000000"/>
                </a:solidFill>
                <a:effectLst/>
                <a:latin typeface="Times New Roman" panose="02020603050405020304" pitchFamily="18" charset="0"/>
                <a:cs typeface="Times New Roman" panose="02020603050405020304" pitchFamily="18" charset="0"/>
              </a:rPr>
              <a:t>, placeholder=</a:t>
            </a:r>
            <a:r>
              <a:rPr lang="en-IN" sz="1200" b="0" dirty="0">
                <a:solidFill>
                  <a:srgbClr val="A31515"/>
                </a:solidFill>
                <a:effectLst/>
                <a:latin typeface="Times New Roman" panose="02020603050405020304" pitchFamily="18" charset="0"/>
                <a:cs typeface="Times New Roman" panose="02020603050405020304" pitchFamily="18" charset="0"/>
              </a:rPr>
              <a:t>"receiver_email@gmail.com"</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r>
              <a:rPr lang="en-IN" sz="1200" b="0" dirty="0" err="1">
                <a:solidFill>
                  <a:srgbClr val="000000"/>
                </a:solidFill>
                <a:effectLst/>
                <a:latin typeface="Times New Roman" panose="02020603050405020304" pitchFamily="18" charset="0"/>
                <a:cs typeface="Times New Roman" panose="02020603050405020304" pitchFamily="18" charset="0"/>
              </a:rPr>
              <a:t>send_button</a:t>
            </a:r>
            <a:r>
              <a:rPr lang="en-IN" sz="1200" b="0" dirty="0">
                <a:solidFill>
                  <a:srgbClr val="000000"/>
                </a:solidFill>
                <a:effectLst/>
                <a:latin typeface="Times New Roman" panose="02020603050405020304" pitchFamily="18" charset="0"/>
                <a:cs typeface="Times New Roman" panose="02020603050405020304" pitchFamily="18" charset="0"/>
              </a:rPr>
              <a:t> = Button(description=</a:t>
            </a:r>
            <a:r>
              <a:rPr lang="en-IN" sz="1200" b="0" dirty="0">
                <a:solidFill>
                  <a:srgbClr val="A31515"/>
                </a:solidFill>
                <a:effectLst/>
                <a:latin typeface="Times New Roman" panose="02020603050405020304" pitchFamily="18" charset="0"/>
                <a:cs typeface="Times New Roman" panose="02020603050405020304" pitchFamily="18" charset="0"/>
              </a:rPr>
              <a:t>"Send Email"</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button_style</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A31515"/>
                </a:solidFill>
                <a:effectLst/>
                <a:latin typeface="Times New Roman" panose="02020603050405020304" pitchFamily="18" charset="0"/>
                <a:cs typeface="Times New Roman" panose="02020603050405020304" pitchFamily="18" charset="0"/>
              </a:rPr>
              <a:t>"success"</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8000"/>
                </a:solidFill>
                <a:effectLst/>
                <a:latin typeface="Times New Roman" panose="02020603050405020304" pitchFamily="18" charset="0"/>
                <a:cs typeface="Times New Roman" panose="02020603050405020304" pitchFamily="18" charset="0"/>
              </a:rPr>
              <a:t># Display widgets</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pPr>
            <a:r>
              <a:rPr lang="en-IN" sz="1200" b="0" dirty="0">
                <a:solidFill>
                  <a:srgbClr val="000000"/>
                </a:solidFill>
                <a:effectLst/>
                <a:latin typeface="Times New Roman" panose="02020603050405020304" pitchFamily="18" charset="0"/>
                <a:cs typeface="Times New Roman" panose="02020603050405020304" pitchFamily="18" charset="0"/>
              </a:rPr>
              <a:t>display(</a:t>
            </a:r>
            <a:r>
              <a:rPr lang="en-IN" sz="1200" b="0" dirty="0" err="1">
                <a:solidFill>
                  <a:srgbClr val="000000"/>
                </a:solidFill>
                <a:effectLst/>
                <a:latin typeface="Times New Roman" panose="02020603050405020304" pitchFamily="18" charset="0"/>
                <a:cs typeface="Times New Roman" panose="02020603050405020304" pitchFamily="18" charset="0"/>
              </a:rPr>
              <a:t>VBox</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err="1">
                <a:solidFill>
                  <a:srgbClr val="000000"/>
                </a:solidFill>
                <a:effectLst/>
                <a:latin typeface="Times New Roman" panose="02020603050405020304" pitchFamily="18" charset="0"/>
                <a:cs typeface="Times New Roman" panose="02020603050405020304" pitchFamily="18" charset="0"/>
              </a:rPr>
              <a:t>upload_widget</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sender_email</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sender_password</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receiver_email</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send_button</a:t>
            </a:r>
            <a:r>
              <a:rPr lang="en-IN" sz="1200" b="0" dirty="0">
                <a:solidFill>
                  <a:srgbClr val="000000"/>
                </a:solidFill>
                <a:effectLst/>
                <a:latin typeface="Times New Roman" panose="0202060305040502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7F17FFCF-6D8C-B2AA-F8CF-402298906BA2}"/>
              </a:ext>
            </a:extLst>
          </p:cNvPr>
          <p:cNvSpPr txBox="1"/>
          <p:nvPr/>
        </p:nvSpPr>
        <p:spPr>
          <a:xfrm>
            <a:off x="6966066" y="1445342"/>
            <a:ext cx="4773088" cy="5478423"/>
          </a:xfrm>
          <a:prstGeom prst="rect">
            <a:avLst/>
          </a:prstGeom>
          <a:noFill/>
        </p:spPr>
        <p:txBody>
          <a:bodyPr wrap="square">
            <a:spAutoFit/>
          </a:bodyPr>
          <a:lstStyle/>
          <a:p>
            <a:pPr>
              <a:lnSpc>
                <a:spcPts val="1425"/>
              </a:lnSpc>
              <a:buNone/>
            </a:pPr>
            <a:r>
              <a:rPr lang="en-IN" sz="1200" b="0" dirty="0">
                <a:solidFill>
                  <a:srgbClr val="0000FF"/>
                </a:solidFill>
                <a:effectLst/>
                <a:latin typeface="Times New Roman" panose="02020603050405020304" pitchFamily="18" charset="0"/>
                <a:cs typeface="Times New Roman" panose="02020603050405020304" pitchFamily="18" charset="0"/>
              </a:rPr>
              <a:t>def</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795E26"/>
                </a:solidFill>
                <a:effectLst/>
                <a:latin typeface="Times New Roman" panose="02020603050405020304" pitchFamily="18" charset="0"/>
                <a:cs typeface="Times New Roman" panose="02020603050405020304" pitchFamily="18" charset="0"/>
              </a:rPr>
              <a:t>send_email</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001080"/>
                </a:solidFill>
                <a:effectLst/>
                <a:latin typeface="Times New Roman" panose="02020603050405020304" pitchFamily="18" charset="0"/>
                <a:cs typeface="Times New Roman" panose="02020603050405020304" pitchFamily="18" charset="0"/>
              </a:rPr>
              <a:t>b</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AF00DB"/>
                </a:solidFill>
                <a:effectLst/>
                <a:latin typeface="Times New Roman" panose="02020603050405020304" pitchFamily="18" charset="0"/>
                <a:cs typeface="Times New Roman" panose="02020603050405020304" pitchFamily="18" charset="0"/>
              </a:rPr>
              <a:t>try</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AF00DB"/>
                </a:solidFill>
                <a:effectLst/>
                <a:latin typeface="Times New Roman" panose="02020603050405020304" pitchFamily="18" charset="0"/>
                <a:cs typeface="Times New Roman" panose="02020603050405020304" pitchFamily="18" charset="0"/>
              </a:rPr>
              <a:t>if</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0000FF"/>
                </a:solidFill>
                <a:effectLst/>
                <a:latin typeface="Times New Roman" panose="02020603050405020304" pitchFamily="18" charset="0"/>
                <a:cs typeface="Times New Roman" panose="02020603050405020304" pitchFamily="18" charset="0"/>
              </a:rPr>
              <a:t>not</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upload_widget.value</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795E26"/>
                </a:solidFill>
                <a:effectLst/>
                <a:latin typeface="Times New Roman" panose="02020603050405020304" pitchFamily="18" charset="0"/>
                <a:cs typeface="Times New Roman" panose="02020603050405020304" pitchFamily="18" charset="0"/>
              </a:rPr>
              <a:t>print</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A31515"/>
                </a:solidFill>
                <a:effectLst/>
                <a:latin typeface="Times New Roman" panose="02020603050405020304" pitchFamily="18" charset="0"/>
                <a:cs typeface="Times New Roman" panose="02020603050405020304" pitchFamily="18" charset="0"/>
              </a:rPr>
              <a:t>"❌ Please upload an image first!"</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AF00DB"/>
                </a:solidFill>
                <a:effectLst/>
                <a:latin typeface="Times New Roman" panose="02020603050405020304" pitchFamily="18" charset="0"/>
                <a:cs typeface="Times New Roman" panose="02020603050405020304" pitchFamily="18" charset="0"/>
              </a:rPr>
              <a:t>return</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008000"/>
                </a:solidFill>
                <a:effectLst/>
                <a:latin typeface="Times New Roman" panose="02020603050405020304" pitchFamily="18" charset="0"/>
                <a:cs typeface="Times New Roman" panose="02020603050405020304" pitchFamily="18" charset="0"/>
              </a:rPr>
              <a:t># Get uploaded file</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uploaded_filename</a:t>
            </a:r>
            <a:r>
              <a:rPr lang="en-IN" sz="1200" b="0" dirty="0">
                <a:solidFill>
                  <a:srgbClr val="000000"/>
                </a:solidFill>
                <a:effectLst/>
                <a:latin typeface="Times New Roman" panose="02020603050405020304" pitchFamily="18" charset="0"/>
                <a:cs typeface="Times New Roman" panose="02020603050405020304" pitchFamily="18" charset="0"/>
              </a:rPr>
              <a:t> = </a:t>
            </a:r>
            <a:r>
              <a:rPr lang="en-IN" sz="1200" b="0" dirty="0">
                <a:solidFill>
                  <a:srgbClr val="257693"/>
                </a:solidFill>
                <a:effectLst/>
                <a:latin typeface="Times New Roman" panose="02020603050405020304" pitchFamily="18" charset="0"/>
                <a:cs typeface="Times New Roman" panose="02020603050405020304" pitchFamily="18" charset="0"/>
              </a:rPr>
              <a:t>list</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err="1">
                <a:solidFill>
                  <a:srgbClr val="000000"/>
                </a:solidFill>
                <a:effectLst/>
                <a:latin typeface="Times New Roman" panose="02020603050405020304" pitchFamily="18" charset="0"/>
                <a:cs typeface="Times New Roman" panose="02020603050405020304" pitchFamily="18" charset="0"/>
              </a:rPr>
              <a:t>upload_widget.value.keys</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116644"/>
                </a:solidFill>
                <a:effectLst/>
                <a:latin typeface="Times New Roman" panose="02020603050405020304" pitchFamily="18" charset="0"/>
                <a:cs typeface="Times New Roman" panose="02020603050405020304" pitchFamily="18" charset="0"/>
              </a:rPr>
              <a:t>0</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image_data</a:t>
            </a:r>
            <a:r>
              <a:rPr lang="en-IN" sz="1200" b="0" dirty="0">
                <a:solidFill>
                  <a:srgbClr val="000000"/>
                </a:solidFill>
                <a:effectLst/>
                <a:latin typeface="Times New Roman" panose="02020603050405020304" pitchFamily="18" charset="0"/>
                <a:cs typeface="Times New Roman" panose="02020603050405020304" pitchFamily="18" charset="0"/>
              </a:rPr>
              <a:t> = </a:t>
            </a:r>
            <a:r>
              <a:rPr lang="en-IN" sz="1200" b="0" dirty="0" err="1">
                <a:solidFill>
                  <a:srgbClr val="000000"/>
                </a:solidFill>
                <a:effectLst/>
                <a:latin typeface="Times New Roman" panose="02020603050405020304" pitchFamily="18" charset="0"/>
                <a:cs typeface="Times New Roman" panose="02020603050405020304" pitchFamily="18" charset="0"/>
              </a:rPr>
              <a:t>upload_widget.value</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err="1">
                <a:solidFill>
                  <a:srgbClr val="000000"/>
                </a:solidFill>
                <a:effectLst/>
                <a:latin typeface="Times New Roman" panose="02020603050405020304" pitchFamily="18" charset="0"/>
                <a:cs typeface="Times New Roman" panose="02020603050405020304" pitchFamily="18" charset="0"/>
              </a:rPr>
              <a:t>uploaded_filename</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A31515"/>
                </a:solidFill>
                <a:effectLst/>
                <a:latin typeface="Times New Roman" panose="02020603050405020304" pitchFamily="18" charset="0"/>
                <a:cs typeface="Times New Roman" panose="02020603050405020304" pitchFamily="18" charset="0"/>
              </a:rPr>
              <a:t>'content'</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008000"/>
                </a:solidFill>
                <a:effectLst/>
                <a:latin typeface="Times New Roman" panose="02020603050405020304" pitchFamily="18" charset="0"/>
                <a:cs typeface="Times New Roman" panose="02020603050405020304" pitchFamily="18" charset="0"/>
              </a:rPr>
              <a:t># Get user inputs</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SENDER_EMAIL = </a:t>
            </a:r>
            <a:r>
              <a:rPr lang="en-IN" sz="1200" b="0" dirty="0" err="1">
                <a:solidFill>
                  <a:srgbClr val="000000"/>
                </a:solidFill>
                <a:effectLst/>
                <a:latin typeface="Times New Roman" panose="02020603050405020304" pitchFamily="18" charset="0"/>
                <a:cs typeface="Times New Roman" panose="02020603050405020304" pitchFamily="18" charset="0"/>
              </a:rPr>
              <a:t>sender_email.value</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SENDER_PASSWORD = </a:t>
            </a:r>
            <a:r>
              <a:rPr lang="en-IN" sz="1200" b="0" dirty="0" err="1">
                <a:solidFill>
                  <a:srgbClr val="000000"/>
                </a:solidFill>
                <a:effectLst/>
                <a:latin typeface="Times New Roman" panose="02020603050405020304" pitchFamily="18" charset="0"/>
                <a:cs typeface="Times New Roman" panose="02020603050405020304" pitchFamily="18" charset="0"/>
              </a:rPr>
              <a:t>sender_password.value</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RECEIVER_EMAIL = </a:t>
            </a:r>
            <a:r>
              <a:rPr lang="en-IN" sz="1200" b="0" dirty="0" err="1">
                <a:solidFill>
                  <a:srgbClr val="000000"/>
                </a:solidFill>
                <a:effectLst/>
                <a:latin typeface="Times New Roman" panose="02020603050405020304" pitchFamily="18" charset="0"/>
                <a:cs typeface="Times New Roman" panose="02020603050405020304" pitchFamily="18" charset="0"/>
              </a:rPr>
              <a:t>receiver_email.value</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008000"/>
                </a:solidFill>
                <a:effectLst/>
                <a:latin typeface="Times New Roman" panose="02020603050405020304" pitchFamily="18" charset="0"/>
                <a:cs typeface="Times New Roman" panose="02020603050405020304" pitchFamily="18" charset="0"/>
              </a:rPr>
              <a:t># SMTP Server Details</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SMTP_SERVER = </a:t>
            </a:r>
            <a:r>
              <a:rPr lang="en-IN" sz="1200" b="0" dirty="0">
                <a:solidFill>
                  <a:srgbClr val="A31515"/>
                </a:solidFill>
                <a:effectLst/>
                <a:latin typeface="Times New Roman" panose="02020603050405020304" pitchFamily="18" charset="0"/>
                <a:cs typeface="Times New Roman" panose="02020603050405020304" pitchFamily="18" charset="0"/>
              </a:rPr>
              <a:t>"smtp.gmail.com"</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SMTP_PORT = </a:t>
            </a:r>
            <a:r>
              <a:rPr lang="en-IN" sz="1200" b="0" dirty="0">
                <a:solidFill>
                  <a:srgbClr val="116644"/>
                </a:solidFill>
                <a:effectLst/>
                <a:latin typeface="Times New Roman" panose="02020603050405020304" pitchFamily="18" charset="0"/>
                <a:cs typeface="Times New Roman" panose="02020603050405020304" pitchFamily="18" charset="0"/>
              </a:rPr>
              <a:t>587</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008000"/>
                </a:solidFill>
                <a:effectLst/>
                <a:latin typeface="Times New Roman" panose="02020603050405020304" pitchFamily="18" charset="0"/>
                <a:cs typeface="Times New Roman" panose="02020603050405020304" pitchFamily="18" charset="0"/>
              </a:rPr>
              <a:t># Create email message</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msg</a:t>
            </a:r>
            <a:r>
              <a:rPr lang="en-IN" sz="1200" b="0" dirty="0">
                <a:solidFill>
                  <a:srgbClr val="000000"/>
                </a:solidFill>
                <a:effectLst/>
                <a:latin typeface="Times New Roman" panose="02020603050405020304" pitchFamily="18" charset="0"/>
                <a:cs typeface="Times New Roman" panose="02020603050405020304" pitchFamily="18" charset="0"/>
              </a:rPr>
              <a:t> = </a:t>
            </a:r>
            <a:r>
              <a:rPr lang="en-IN" sz="1200" b="0" dirty="0" err="1">
                <a:solidFill>
                  <a:srgbClr val="000000"/>
                </a:solidFill>
                <a:effectLst/>
                <a:latin typeface="Times New Roman" panose="02020603050405020304" pitchFamily="18" charset="0"/>
                <a:cs typeface="Times New Roman" panose="02020603050405020304" pitchFamily="18" charset="0"/>
              </a:rPr>
              <a:t>EmailMessage</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msg</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A31515"/>
                </a:solidFill>
                <a:effectLst/>
                <a:latin typeface="Times New Roman" panose="02020603050405020304" pitchFamily="18" charset="0"/>
                <a:cs typeface="Times New Roman" panose="02020603050405020304" pitchFamily="18" charset="0"/>
              </a:rPr>
              <a:t>"Subject"</a:t>
            </a:r>
            <a:r>
              <a:rPr lang="en-IN" sz="1200" b="0" dirty="0">
                <a:solidFill>
                  <a:srgbClr val="000000"/>
                </a:solidFill>
                <a:effectLst/>
                <a:latin typeface="Times New Roman" panose="02020603050405020304" pitchFamily="18" charset="0"/>
                <a:cs typeface="Times New Roman" panose="02020603050405020304" pitchFamily="18" charset="0"/>
              </a:rPr>
              <a:t>] = </a:t>
            </a:r>
            <a:r>
              <a:rPr lang="en-IN" sz="1200" b="0" dirty="0">
                <a:solidFill>
                  <a:srgbClr val="A31515"/>
                </a:solidFill>
                <a:effectLst/>
                <a:latin typeface="Times New Roman" panose="02020603050405020304" pitchFamily="18" charset="0"/>
                <a:cs typeface="Times New Roman" panose="02020603050405020304" pitchFamily="18" charset="0"/>
              </a:rPr>
              <a:t>"Here is your image!"</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msg</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A31515"/>
                </a:solidFill>
                <a:effectLst/>
                <a:latin typeface="Times New Roman" panose="02020603050405020304" pitchFamily="18" charset="0"/>
                <a:cs typeface="Times New Roman" panose="02020603050405020304" pitchFamily="18" charset="0"/>
              </a:rPr>
              <a:t>"From"</a:t>
            </a:r>
            <a:r>
              <a:rPr lang="en-IN" sz="1200" b="0" dirty="0">
                <a:solidFill>
                  <a:srgbClr val="000000"/>
                </a:solidFill>
                <a:effectLst/>
                <a:latin typeface="Times New Roman" panose="02020603050405020304" pitchFamily="18" charset="0"/>
                <a:cs typeface="Times New Roman" panose="02020603050405020304" pitchFamily="18" charset="0"/>
              </a:rPr>
              <a:t>] = SENDER_EMAIL</a:t>
            </a: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msg</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A31515"/>
                </a:solidFill>
                <a:effectLst/>
                <a:latin typeface="Times New Roman" panose="02020603050405020304" pitchFamily="18" charset="0"/>
                <a:cs typeface="Times New Roman" panose="02020603050405020304" pitchFamily="18" charset="0"/>
              </a:rPr>
              <a:t>"To"</a:t>
            </a:r>
            <a:r>
              <a:rPr lang="en-IN" sz="1200" b="0" dirty="0">
                <a:solidFill>
                  <a:srgbClr val="000000"/>
                </a:solidFill>
                <a:effectLst/>
                <a:latin typeface="Times New Roman" panose="02020603050405020304" pitchFamily="18" charset="0"/>
                <a:cs typeface="Times New Roman" panose="02020603050405020304" pitchFamily="18" charset="0"/>
              </a:rPr>
              <a:t>] = RECEIVER_EMAIL</a:t>
            </a:r>
          </a:p>
          <a:p>
            <a:pPr>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msg.set_content</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A31515"/>
                </a:solidFill>
                <a:effectLst/>
                <a:latin typeface="Times New Roman" panose="02020603050405020304" pitchFamily="18" charset="0"/>
                <a:cs typeface="Times New Roman" panose="02020603050405020304" pitchFamily="18" charset="0"/>
              </a:rPr>
              <a:t>"Please find the attached image."</a:t>
            </a:r>
            <a:r>
              <a:rPr lang="en-IN" sz="1200" b="0" dirty="0">
                <a:solidFill>
                  <a:srgbClr val="000000"/>
                </a:solidFill>
                <a:effectLst/>
                <a:latin typeface="Times New Roman" panose="02020603050405020304" pitchFamily="18" charset="0"/>
                <a:cs typeface="Times New Roman" panose="02020603050405020304" pitchFamily="18" charset="0"/>
              </a:rPr>
              <a:t>)</a:t>
            </a:r>
          </a:p>
          <a:p>
            <a:pPr>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0000"/>
                </a:solidFill>
                <a:effectLst/>
                <a:latin typeface="Times New Roman" panose="02020603050405020304" pitchFamily="18" charset="0"/>
                <a:cs typeface="Times New Roman" panose="02020603050405020304" pitchFamily="18" charset="0"/>
              </a:rPr>
              <a:t>        </a:t>
            </a:r>
          </a:p>
          <a:p>
            <a:pPr>
              <a:lnSpc>
                <a:spcPts val="1425"/>
              </a:lnSpc>
              <a:buNone/>
            </a:pPr>
            <a:endParaRPr lang="en-IN" sz="1200" dirty="0">
              <a:solidFill>
                <a:srgbClr val="000000"/>
              </a:solidFill>
              <a:latin typeface="Times New Roman" panose="02020603050405020304" pitchFamily="18" charset="0"/>
              <a:cs typeface="Times New Roman" panose="02020603050405020304" pitchFamily="18" charset="0"/>
            </a:endParaRPr>
          </a:p>
          <a:p>
            <a:pPr>
              <a:lnSpc>
                <a:spcPts val="1425"/>
              </a:lnSpc>
              <a:buNone/>
            </a:pPr>
            <a:endParaRPr lang="en-IN" sz="1200" b="0" dirty="0">
              <a:solidFill>
                <a:srgbClr val="000000"/>
              </a:solidFill>
              <a:effectLst/>
              <a:latin typeface="Times New Roman" panose="02020603050405020304" pitchFamily="18" charset="0"/>
              <a:cs typeface="Times New Roman" panose="02020603050405020304" pitchFamily="18" charset="0"/>
            </a:endParaRPr>
          </a:p>
          <a:p>
            <a:pPr>
              <a:lnSpc>
                <a:spcPts val="1425"/>
              </a:lnSpc>
              <a:buNone/>
            </a:pPr>
            <a:endParaRPr lang="en-IN" sz="1200" b="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92419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86E62947-3875-E45A-A3A9-928351C68532}"/>
              </a:ext>
            </a:extLst>
          </p:cNvPr>
          <p:cNvSpPr txBox="1">
            <a:spLocks noGrp="1"/>
          </p:cNvSpPr>
          <p:nvPr>
            <p:ph type="subTitle" idx="1"/>
          </p:nvPr>
        </p:nvSpPr>
        <p:spPr>
          <a:xfrm>
            <a:off x="749577" y="1550488"/>
            <a:ext cx="9770378" cy="4375557"/>
          </a:xfrm>
          <a:prstGeom prst="rect">
            <a:avLst/>
          </a:prstGeom>
          <a:noFill/>
        </p:spPr>
        <p:txBody>
          <a:bodyPr wrap="square">
            <a:spAutoFit/>
          </a:bodyPr>
          <a:lstStyle/>
          <a:p>
            <a:pPr algn="l">
              <a:lnSpc>
                <a:spcPts val="1425"/>
              </a:lnSpc>
              <a:buNone/>
            </a:pPr>
            <a:r>
              <a:rPr lang="en-IN" sz="1200" b="0" dirty="0">
                <a:solidFill>
                  <a:srgbClr val="008000"/>
                </a:solidFill>
                <a:effectLst/>
                <a:latin typeface="Times New Roman" panose="02020603050405020304" pitchFamily="18" charset="0"/>
                <a:cs typeface="Times New Roman" panose="02020603050405020304" pitchFamily="18" charset="0"/>
              </a:rPr>
              <a:t># Attach the uploaded image</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gn="l">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msg.add_attachment</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err="1">
                <a:solidFill>
                  <a:srgbClr val="000000"/>
                </a:solidFill>
                <a:effectLst/>
                <a:latin typeface="Times New Roman" panose="02020603050405020304" pitchFamily="18" charset="0"/>
                <a:cs typeface="Times New Roman" panose="02020603050405020304" pitchFamily="18" charset="0"/>
              </a:rPr>
              <a:t>image_data</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maintype</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A31515"/>
                </a:solidFill>
                <a:effectLst/>
                <a:latin typeface="Times New Roman" panose="02020603050405020304" pitchFamily="18" charset="0"/>
                <a:cs typeface="Times New Roman" panose="02020603050405020304" pitchFamily="18" charset="0"/>
              </a:rPr>
              <a:t>"image"</a:t>
            </a:r>
            <a:r>
              <a:rPr lang="en-IN" sz="1200" b="0" dirty="0">
                <a:solidFill>
                  <a:srgbClr val="000000"/>
                </a:solidFill>
                <a:effectLst/>
                <a:latin typeface="Times New Roman" panose="02020603050405020304" pitchFamily="18" charset="0"/>
                <a:cs typeface="Times New Roman" panose="02020603050405020304" pitchFamily="18" charset="0"/>
              </a:rPr>
              <a:t>, subtype=</a:t>
            </a:r>
            <a:r>
              <a:rPr lang="en-IN" sz="1200" b="0" dirty="0">
                <a:solidFill>
                  <a:srgbClr val="A31515"/>
                </a:solidFill>
                <a:effectLst/>
                <a:latin typeface="Times New Roman" panose="02020603050405020304" pitchFamily="18" charset="0"/>
                <a:cs typeface="Times New Roman" panose="02020603050405020304" pitchFamily="18" charset="0"/>
              </a:rPr>
              <a:t>"jpeg"</a:t>
            </a:r>
            <a:r>
              <a:rPr lang="en-IN" sz="1200" b="0" dirty="0">
                <a:solidFill>
                  <a:srgbClr val="000000"/>
                </a:solidFill>
                <a:effectLst/>
                <a:latin typeface="Times New Roman" panose="02020603050405020304" pitchFamily="18" charset="0"/>
                <a:cs typeface="Times New Roman" panose="02020603050405020304" pitchFamily="18" charset="0"/>
              </a:rPr>
              <a:t>, filename=</a:t>
            </a:r>
            <a:r>
              <a:rPr lang="en-IN" sz="1200" b="0" dirty="0" err="1">
                <a:solidFill>
                  <a:srgbClr val="000000"/>
                </a:solidFill>
                <a:effectLst/>
                <a:latin typeface="Times New Roman" panose="02020603050405020304" pitchFamily="18" charset="0"/>
                <a:cs typeface="Times New Roman" panose="02020603050405020304" pitchFamily="18" charset="0"/>
              </a:rPr>
              <a:t>uploaded_filename</a:t>
            </a:r>
            <a:r>
              <a:rPr lang="en-IN" sz="1200" b="0" dirty="0">
                <a:solidFill>
                  <a:srgbClr val="000000"/>
                </a:solidFill>
                <a:effectLst/>
                <a:latin typeface="Times New Roman" panose="02020603050405020304" pitchFamily="18" charset="0"/>
                <a:cs typeface="Times New Roman" panose="02020603050405020304" pitchFamily="18" charset="0"/>
              </a:rPr>
              <a:t>)</a:t>
            </a:r>
          </a:p>
          <a:p>
            <a:pPr algn="l">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008000"/>
                </a:solidFill>
                <a:effectLst/>
                <a:latin typeface="Times New Roman" panose="02020603050405020304" pitchFamily="18" charset="0"/>
                <a:cs typeface="Times New Roman" panose="02020603050405020304" pitchFamily="18" charset="0"/>
              </a:rPr>
              <a:t># Send email</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gn="l">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AF00DB"/>
                </a:solidFill>
                <a:effectLst/>
                <a:latin typeface="Times New Roman" panose="02020603050405020304" pitchFamily="18" charset="0"/>
                <a:cs typeface="Times New Roman" panose="02020603050405020304" pitchFamily="18" charset="0"/>
              </a:rPr>
              <a:t>with</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smtplib.SMTP</a:t>
            </a:r>
            <a:r>
              <a:rPr lang="en-IN" sz="1200" b="0" dirty="0">
                <a:solidFill>
                  <a:srgbClr val="000000"/>
                </a:solidFill>
                <a:effectLst/>
                <a:latin typeface="Times New Roman" panose="02020603050405020304" pitchFamily="18" charset="0"/>
                <a:cs typeface="Times New Roman" panose="02020603050405020304" pitchFamily="18" charset="0"/>
              </a:rPr>
              <a:t>(SMTP_SERVER, SMTP_PORT) </a:t>
            </a:r>
            <a:r>
              <a:rPr lang="en-IN" sz="1200" b="0" dirty="0">
                <a:solidFill>
                  <a:srgbClr val="AF00DB"/>
                </a:solidFill>
                <a:effectLst/>
                <a:latin typeface="Times New Roman" panose="02020603050405020304" pitchFamily="18" charset="0"/>
                <a:cs typeface="Times New Roman" panose="02020603050405020304" pitchFamily="18" charset="0"/>
              </a:rPr>
              <a:t>as</a:t>
            </a:r>
            <a:r>
              <a:rPr lang="en-IN" sz="1200" b="0" dirty="0">
                <a:solidFill>
                  <a:srgbClr val="000000"/>
                </a:solidFill>
                <a:effectLst/>
                <a:latin typeface="Times New Roman" panose="02020603050405020304" pitchFamily="18" charset="0"/>
                <a:cs typeface="Times New Roman" panose="02020603050405020304" pitchFamily="18" charset="0"/>
              </a:rPr>
              <a:t> server:</a:t>
            </a:r>
          </a:p>
          <a:p>
            <a:pPr algn="l">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server.starttls</a:t>
            </a: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008000"/>
                </a:solidFill>
                <a:effectLst/>
                <a:latin typeface="Times New Roman" panose="02020603050405020304" pitchFamily="18" charset="0"/>
                <a:cs typeface="Times New Roman" panose="02020603050405020304" pitchFamily="18" charset="0"/>
              </a:rPr>
              <a:t># Secure the connection</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gn="l">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server.login</a:t>
            </a:r>
            <a:r>
              <a:rPr lang="en-IN" sz="1200" b="0" dirty="0">
                <a:solidFill>
                  <a:srgbClr val="000000"/>
                </a:solidFill>
                <a:effectLst/>
                <a:latin typeface="Times New Roman" panose="02020603050405020304" pitchFamily="18" charset="0"/>
                <a:cs typeface="Times New Roman" panose="02020603050405020304" pitchFamily="18" charset="0"/>
              </a:rPr>
              <a:t>(SENDER_EMAIL, SENDER_PASSWORD)</a:t>
            </a:r>
          </a:p>
          <a:p>
            <a:pPr algn="l">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err="1">
                <a:solidFill>
                  <a:srgbClr val="000000"/>
                </a:solidFill>
                <a:effectLst/>
                <a:latin typeface="Times New Roman" panose="02020603050405020304" pitchFamily="18" charset="0"/>
                <a:cs typeface="Times New Roman" panose="02020603050405020304" pitchFamily="18" charset="0"/>
              </a:rPr>
              <a:t>server.send_message</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err="1">
                <a:solidFill>
                  <a:srgbClr val="000000"/>
                </a:solidFill>
                <a:effectLst/>
                <a:latin typeface="Times New Roman" panose="02020603050405020304" pitchFamily="18" charset="0"/>
                <a:cs typeface="Times New Roman" panose="02020603050405020304" pitchFamily="18" charset="0"/>
              </a:rPr>
              <a:t>msg</a:t>
            </a:r>
            <a:r>
              <a:rPr lang="en-IN" sz="1200" b="0" dirty="0">
                <a:solidFill>
                  <a:srgbClr val="000000"/>
                </a:solidFill>
                <a:effectLst/>
                <a:latin typeface="Times New Roman" panose="02020603050405020304" pitchFamily="18" charset="0"/>
                <a:cs typeface="Times New Roman" panose="02020603050405020304" pitchFamily="18" charset="0"/>
              </a:rPr>
              <a:t>)</a:t>
            </a:r>
          </a:p>
          <a:p>
            <a:pPr algn="l">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795E26"/>
                </a:solidFill>
                <a:effectLst/>
                <a:latin typeface="Times New Roman" panose="02020603050405020304" pitchFamily="18" charset="0"/>
                <a:cs typeface="Times New Roman" panose="02020603050405020304" pitchFamily="18" charset="0"/>
              </a:rPr>
              <a:t>print</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A31515"/>
                </a:solidFill>
                <a:effectLst/>
                <a:latin typeface="Times New Roman" panose="02020603050405020304" pitchFamily="18" charset="0"/>
                <a:cs typeface="Times New Roman" panose="02020603050405020304" pitchFamily="18" charset="0"/>
              </a:rPr>
              <a:t>"✅ Email sent successfully!"</a:t>
            </a:r>
            <a:r>
              <a:rPr lang="en-IN" sz="1200" b="0" dirty="0">
                <a:solidFill>
                  <a:srgbClr val="000000"/>
                </a:solidFill>
                <a:effectLst/>
                <a:latin typeface="Times New Roman" panose="02020603050405020304" pitchFamily="18" charset="0"/>
                <a:cs typeface="Times New Roman" panose="02020603050405020304" pitchFamily="18" charset="0"/>
              </a:rPr>
              <a:t>)</a:t>
            </a:r>
          </a:p>
          <a:p>
            <a:pPr algn="l">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AF00DB"/>
                </a:solidFill>
                <a:effectLst/>
                <a:latin typeface="Times New Roman" panose="02020603050405020304" pitchFamily="18" charset="0"/>
                <a:cs typeface="Times New Roman" panose="02020603050405020304" pitchFamily="18" charset="0"/>
              </a:rPr>
              <a:t>except</a:t>
            </a:r>
            <a:r>
              <a:rPr lang="en-IN" sz="1200" b="0" dirty="0">
                <a:solidFill>
                  <a:srgbClr val="000000"/>
                </a:solidFill>
                <a:effectLst/>
                <a:latin typeface="Times New Roman" panose="02020603050405020304" pitchFamily="18" charset="0"/>
                <a:cs typeface="Times New Roman" panose="02020603050405020304" pitchFamily="18" charset="0"/>
              </a:rPr>
              <a:t> Exception </a:t>
            </a:r>
            <a:r>
              <a:rPr lang="en-IN" sz="1200" b="0" dirty="0">
                <a:solidFill>
                  <a:srgbClr val="AF00DB"/>
                </a:solidFill>
                <a:effectLst/>
                <a:latin typeface="Times New Roman" panose="02020603050405020304" pitchFamily="18" charset="0"/>
                <a:cs typeface="Times New Roman" panose="02020603050405020304" pitchFamily="18" charset="0"/>
              </a:rPr>
              <a:t>as</a:t>
            </a:r>
            <a:r>
              <a:rPr lang="en-IN" sz="1200" b="0" dirty="0">
                <a:solidFill>
                  <a:srgbClr val="000000"/>
                </a:solidFill>
                <a:effectLst/>
                <a:latin typeface="Times New Roman" panose="02020603050405020304" pitchFamily="18" charset="0"/>
                <a:cs typeface="Times New Roman" panose="02020603050405020304" pitchFamily="18" charset="0"/>
              </a:rPr>
              <a:t> e:</a:t>
            </a:r>
          </a:p>
          <a:p>
            <a:pPr algn="l">
              <a:lnSpc>
                <a:spcPts val="1425"/>
              </a:lnSpc>
              <a:buNone/>
            </a:pPr>
            <a:r>
              <a:rPr lang="en-IN" sz="1200" b="0" dirty="0">
                <a:solidFill>
                  <a:srgbClr val="000000"/>
                </a:solidFill>
                <a:effectLst/>
                <a:latin typeface="Times New Roman" panose="02020603050405020304" pitchFamily="18" charset="0"/>
                <a:cs typeface="Times New Roman" panose="02020603050405020304" pitchFamily="18" charset="0"/>
              </a:rPr>
              <a:t>        </a:t>
            </a:r>
            <a:r>
              <a:rPr lang="en-IN" sz="1200" b="0" dirty="0">
                <a:solidFill>
                  <a:srgbClr val="795E26"/>
                </a:solidFill>
                <a:effectLst/>
                <a:latin typeface="Times New Roman" panose="02020603050405020304" pitchFamily="18" charset="0"/>
                <a:cs typeface="Times New Roman" panose="02020603050405020304" pitchFamily="18" charset="0"/>
              </a:rPr>
              <a:t>print</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a:solidFill>
                  <a:srgbClr val="0000FF"/>
                </a:solidFill>
                <a:effectLst/>
                <a:latin typeface="Times New Roman" panose="02020603050405020304" pitchFamily="18" charset="0"/>
                <a:cs typeface="Times New Roman" panose="02020603050405020304" pitchFamily="18" charset="0"/>
              </a:rPr>
              <a:t>f</a:t>
            </a:r>
            <a:r>
              <a:rPr lang="en-IN" sz="1200" b="0" dirty="0">
                <a:solidFill>
                  <a:srgbClr val="A31515"/>
                </a:solidFill>
                <a:effectLst/>
                <a:latin typeface="Times New Roman" panose="02020603050405020304" pitchFamily="18" charset="0"/>
                <a:cs typeface="Times New Roman" panose="02020603050405020304" pitchFamily="18" charset="0"/>
              </a:rPr>
              <a:t>"❌ Error: </a:t>
            </a:r>
            <a:r>
              <a:rPr lang="en-IN" sz="1200" b="0" dirty="0">
                <a:solidFill>
                  <a:srgbClr val="000000"/>
                </a:solidFill>
                <a:effectLst/>
                <a:latin typeface="Times New Roman" panose="02020603050405020304" pitchFamily="18" charset="0"/>
                <a:cs typeface="Times New Roman" panose="02020603050405020304" pitchFamily="18" charset="0"/>
              </a:rPr>
              <a:t>{e}</a:t>
            </a:r>
            <a:r>
              <a:rPr lang="en-IN" sz="1200" b="0" dirty="0">
                <a:solidFill>
                  <a:srgbClr val="A31515"/>
                </a:solidFill>
                <a:effectLst/>
                <a:latin typeface="Times New Roman" panose="02020603050405020304" pitchFamily="18" charset="0"/>
                <a:cs typeface="Times New Roman" panose="02020603050405020304" pitchFamily="18" charset="0"/>
              </a:rPr>
              <a:t>"</a:t>
            </a:r>
            <a:r>
              <a:rPr lang="en-IN" sz="1200" b="0" dirty="0">
                <a:solidFill>
                  <a:srgbClr val="000000"/>
                </a:solidFill>
                <a:effectLst/>
                <a:latin typeface="Times New Roman" panose="02020603050405020304" pitchFamily="18" charset="0"/>
                <a:cs typeface="Times New Roman" panose="02020603050405020304" pitchFamily="18" charset="0"/>
              </a:rPr>
              <a:t>)</a:t>
            </a:r>
          </a:p>
          <a:p>
            <a:pPr algn="l">
              <a:lnSpc>
                <a:spcPts val="1425"/>
              </a:lnSpc>
              <a:buNone/>
            </a:pPr>
            <a:br>
              <a:rPr lang="en-IN" sz="1200" b="0" dirty="0">
                <a:solidFill>
                  <a:srgbClr val="000000"/>
                </a:solidFill>
                <a:effectLst/>
                <a:latin typeface="Times New Roman" panose="02020603050405020304" pitchFamily="18" charset="0"/>
                <a:cs typeface="Times New Roman" panose="02020603050405020304" pitchFamily="18" charset="0"/>
              </a:rPr>
            </a:br>
            <a:r>
              <a:rPr lang="en-IN" sz="1200" b="0" dirty="0">
                <a:solidFill>
                  <a:srgbClr val="008000"/>
                </a:solidFill>
                <a:effectLst/>
                <a:latin typeface="Times New Roman" panose="02020603050405020304" pitchFamily="18" charset="0"/>
                <a:cs typeface="Times New Roman" panose="02020603050405020304" pitchFamily="18" charset="0"/>
              </a:rPr>
              <a:t># Attach function to button click event</a:t>
            </a:r>
            <a:endParaRPr lang="en-IN" sz="1200" b="0" dirty="0">
              <a:solidFill>
                <a:srgbClr val="000000"/>
              </a:solidFill>
              <a:effectLst/>
              <a:latin typeface="Times New Roman" panose="02020603050405020304" pitchFamily="18" charset="0"/>
              <a:cs typeface="Times New Roman" panose="02020603050405020304" pitchFamily="18" charset="0"/>
            </a:endParaRPr>
          </a:p>
          <a:p>
            <a:pPr algn="l">
              <a:lnSpc>
                <a:spcPts val="1425"/>
              </a:lnSpc>
            </a:pPr>
            <a:r>
              <a:rPr lang="en-IN" sz="1200" b="0" dirty="0" err="1">
                <a:solidFill>
                  <a:srgbClr val="000000"/>
                </a:solidFill>
                <a:effectLst/>
                <a:latin typeface="Times New Roman" panose="02020603050405020304" pitchFamily="18" charset="0"/>
                <a:cs typeface="Times New Roman" panose="02020603050405020304" pitchFamily="18" charset="0"/>
              </a:rPr>
              <a:t>send_button.on_click</a:t>
            </a:r>
            <a:r>
              <a:rPr lang="en-IN" sz="1200" b="0" dirty="0">
                <a:solidFill>
                  <a:srgbClr val="000000"/>
                </a:solidFill>
                <a:effectLst/>
                <a:latin typeface="Times New Roman" panose="02020603050405020304" pitchFamily="18" charset="0"/>
                <a:cs typeface="Times New Roman" panose="02020603050405020304" pitchFamily="18" charset="0"/>
              </a:rPr>
              <a:t>(</a:t>
            </a:r>
            <a:r>
              <a:rPr lang="en-IN" sz="1200" b="0" dirty="0" err="1">
                <a:solidFill>
                  <a:srgbClr val="000000"/>
                </a:solidFill>
                <a:effectLst/>
                <a:latin typeface="Times New Roman" panose="02020603050405020304" pitchFamily="18" charset="0"/>
                <a:cs typeface="Times New Roman" panose="02020603050405020304" pitchFamily="18" charset="0"/>
              </a:rPr>
              <a:t>send_email</a:t>
            </a:r>
            <a:r>
              <a:rPr lang="en-IN" sz="1200" b="0" dirty="0">
                <a:solidFill>
                  <a:srgbClr val="000000"/>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87378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8994B-3DBA-D049-52DE-C7153A7BB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D6098-F23F-C649-D863-03A3C9E612CA}"/>
              </a:ext>
            </a:extLst>
          </p:cNvPr>
          <p:cNvSpPr>
            <a:spLocks noGrp="1"/>
          </p:cNvSpPr>
          <p:nvPr>
            <p:ph type="title"/>
          </p:nvPr>
        </p:nvSpPr>
        <p:spPr>
          <a:xfrm>
            <a:off x="838200" y="0"/>
            <a:ext cx="10515600" cy="1445342"/>
          </a:xfrm>
        </p:spPr>
        <p:txBody>
          <a:bodyPr>
            <a:normAutofit/>
          </a:body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WORK DONE(contd…..)</a:t>
            </a:r>
            <a:endParaRPr lang="en-US" sz="4000" dirty="0">
              <a:solidFill>
                <a:schemeClr val="accent5">
                  <a:lumMod val="75000"/>
                </a:schemeClr>
              </a:solidFill>
            </a:endParaRPr>
          </a:p>
        </p:txBody>
      </p:sp>
      <p:sp>
        <p:nvSpPr>
          <p:cNvPr id="5" name="TextBox 4">
            <a:extLst>
              <a:ext uri="{FF2B5EF4-FFF2-40B4-BE49-F238E27FC236}">
                <a16:creationId xmlns:a16="http://schemas.microsoft.com/office/drawing/2014/main" id="{FB73E0C4-06D2-F880-D352-AED726B1864C}"/>
              </a:ext>
            </a:extLst>
          </p:cNvPr>
          <p:cNvSpPr txBox="1"/>
          <p:nvPr/>
        </p:nvSpPr>
        <p:spPr>
          <a:xfrm>
            <a:off x="838200" y="1061884"/>
            <a:ext cx="10515600" cy="523220"/>
          </a:xfrm>
          <a:prstGeom prst="rect">
            <a:avLst/>
          </a:prstGeom>
          <a:noFill/>
        </p:spPr>
        <p:txBody>
          <a:bodyPr wrap="square" rtlCol="0">
            <a:spAutoFit/>
          </a:bodyPr>
          <a:lstStyle/>
          <a:p>
            <a:pPr marL="457200" indent="-457200">
              <a:buFont typeface="Wingdings" panose="05000000000000000000" pitchFamily="2" charset="2"/>
              <a:buChar char="q"/>
            </a:pPr>
            <a:r>
              <a:rPr lang="en-IN" sz="2800" dirty="0">
                <a:solidFill>
                  <a:schemeClr val="accent5">
                    <a:lumMod val="40000"/>
                    <a:lumOff val="60000"/>
                  </a:schemeClr>
                </a:solidFill>
                <a:latin typeface="Times New Roman" panose="02020603050405020304" pitchFamily="18" charset="0"/>
                <a:cs typeface="Times New Roman" panose="02020603050405020304" pitchFamily="18" charset="0"/>
              </a:rPr>
              <a:t>Output of Monitoring System  :- </a:t>
            </a:r>
            <a:endParaRPr lang="en-US" sz="2800" dirty="0">
              <a:solidFill>
                <a:schemeClr val="accent5">
                  <a:lumMod val="40000"/>
                  <a:lumOff val="60000"/>
                </a:schemeClr>
              </a:solidFill>
            </a:endParaRPr>
          </a:p>
        </p:txBody>
      </p:sp>
      <p:pic>
        <p:nvPicPr>
          <p:cNvPr id="21" name="Content Placeholder 20">
            <a:extLst>
              <a:ext uri="{FF2B5EF4-FFF2-40B4-BE49-F238E27FC236}">
                <a16:creationId xmlns:a16="http://schemas.microsoft.com/office/drawing/2014/main" id="{553F8448-B312-87FC-48AE-979763FA9C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8225" y="1649457"/>
            <a:ext cx="2401698" cy="4286986"/>
          </a:xfrm>
        </p:spPr>
      </p:pic>
      <p:pic>
        <p:nvPicPr>
          <p:cNvPr id="23" name="Picture 22">
            <a:extLst>
              <a:ext uri="{FF2B5EF4-FFF2-40B4-BE49-F238E27FC236}">
                <a16:creationId xmlns:a16="http://schemas.microsoft.com/office/drawing/2014/main" id="{4B6C059F-3045-358D-5071-7F8AFA913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2531" y="1649454"/>
            <a:ext cx="2401698" cy="4286987"/>
          </a:xfrm>
          <a:prstGeom prst="rect">
            <a:avLst/>
          </a:prstGeom>
        </p:spPr>
      </p:pic>
      <p:pic>
        <p:nvPicPr>
          <p:cNvPr id="25" name="Picture 24">
            <a:extLst>
              <a:ext uri="{FF2B5EF4-FFF2-40B4-BE49-F238E27FC236}">
                <a16:creationId xmlns:a16="http://schemas.microsoft.com/office/drawing/2014/main" id="{9DE6A9AB-6CC7-46E2-1FA0-6985AF928B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44733" y="1649455"/>
            <a:ext cx="2401698" cy="4286987"/>
          </a:xfrm>
          <a:prstGeom prst="rect">
            <a:avLst/>
          </a:prstGeom>
        </p:spPr>
      </p:pic>
      <p:pic>
        <p:nvPicPr>
          <p:cNvPr id="27" name="Picture 26">
            <a:extLst>
              <a:ext uri="{FF2B5EF4-FFF2-40B4-BE49-F238E27FC236}">
                <a16:creationId xmlns:a16="http://schemas.microsoft.com/office/drawing/2014/main" id="{0265638F-3365-071B-9BA7-44D14A1B42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53549" y="1666082"/>
            <a:ext cx="2585596" cy="4286987"/>
          </a:xfrm>
          <a:prstGeom prst="rect">
            <a:avLst/>
          </a:prstGeom>
        </p:spPr>
      </p:pic>
    </p:spTree>
    <p:extLst>
      <p:ext uri="{BB962C8B-B14F-4D97-AF65-F5344CB8AC3E}">
        <p14:creationId xmlns:p14="http://schemas.microsoft.com/office/powerpoint/2010/main" val="146341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7A0E8-8102-3800-CB7C-F86900E4A8AF}"/>
              </a:ext>
            </a:extLst>
          </p:cNvPr>
          <p:cNvSpPr>
            <a:spLocks noGrp="1"/>
          </p:cNvSpPr>
          <p:nvPr>
            <p:ph type="title"/>
          </p:nvPr>
        </p:nvSpPr>
        <p:spPr>
          <a:xfrm>
            <a:off x="646176" y="91440"/>
            <a:ext cx="10515600" cy="1325563"/>
          </a:xfrm>
        </p:spPr>
        <p:txBody>
          <a:body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CONCLUSION:-</a:t>
            </a:r>
            <a:endParaRPr lang="en-IN"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71D6FCA1-B551-4C27-EF0C-D1BA99B28CF9}"/>
              </a:ext>
            </a:extLst>
          </p:cNvPr>
          <p:cNvSpPr>
            <a:spLocks noGrp="1"/>
          </p:cNvSpPr>
          <p:nvPr>
            <p:ph idx="1"/>
          </p:nvPr>
        </p:nvSpPr>
        <p:spPr>
          <a:xfrm>
            <a:off x="541020" y="1046480"/>
            <a:ext cx="10515600" cy="4351338"/>
          </a:xfrm>
        </p:spPr>
        <p:txBody>
          <a:bodyPr>
            <a:normAutofit/>
          </a:bodyPr>
          <a:lstStyle/>
          <a:p>
            <a:pPr marL="457200" indent="-457200" algn="just">
              <a:buAutoNum type="arabicPeriod"/>
            </a:pPr>
            <a:endParaRPr lang="en-US" sz="2800" dirty="0">
              <a:latin typeface="Times New Roman" panose="02020603050405020304" pitchFamily="18" charset="0"/>
              <a:cs typeface="Times New Roman" panose="02020603050405020304" pitchFamily="18" charset="0"/>
              <a:hlinkClick r:id="rId2"/>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IN" dirty="0"/>
          </a:p>
        </p:txBody>
      </p:sp>
      <p:sp>
        <p:nvSpPr>
          <p:cNvPr id="5" name="TextBox 4">
            <a:extLst>
              <a:ext uri="{FF2B5EF4-FFF2-40B4-BE49-F238E27FC236}">
                <a16:creationId xmlns:a16="http://schemas.microsoft.com/office/drawing/2014/main" id="{0CB1BA76-FE64-2F24-505B-32A84EBE1372}"/>
              </a:ext>
            </a:extLst>
          </p:cNvPr>
          <p:cNvSpPr txBox="1"/>
          <p:nvPr/>
        </p:nvSpPr>
        <p:spPr>
          <a:xfrm>
            <a:off x="541020" y="1050060"/>
            <a:ext cx="11004804" cy="461305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This advanced monitoring system designed to enhance the efficiency and reliability of solar-powered electric vehicles. </a:t>
            </a:r>
            <a:r>
              <a:rPr lang="en-IN" dirty="0">
                <a:latin typeface="Times New Roman" panose="02020603050405020304" pitchFamily="18" charset="0"/>
                <a:cs typeface="Times New Roman" panose="02020603050405020304" pitchFamily="18" charset="0"/>
              </a:rPr>
              <a:t>By integrating a real-time email-based monitoring system, this project ensures seamless communication of critical system parameters such as voltage, current, and battery health to users, enabling timely diagnostics and preventive maintenance. This enhances system transparency, user awareness, and operational safety. The implementation of a smoothing function circuit has effectively minimized voltage fluctuations and power ripples, ensuring a stable and reliable power supply to the vehicle’s electrical components. This not only improves the charging efficiency and battery life but also contributes to the overall energy efficiency of the electric vehicle. In essence, this project bridges the gap between clean energy generation and intelligent energy management. It provides a smart, scalable, and cost-effective solution that aligns with the future of sustainable transportation. With further enhancements such as AI-based analytics, mobile app integration, and wireless control, this system holds great potential to revolutionize how electric vehicles are monitored and managed in the era of green technology.</a:t>
            </a:r>
          </a:p>
        </p:txBody>
      </p:sp>
    </p:spTree>
    <p:extLst>
      <p:ext uri="{BB962C8B-B14F-4D97-AF65-F5344CB8AC3E}">
        <p14:creationId xmlns:p14="http://schemas.microsoft.com/office/powerpoint/2010/main" val="1261093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7A0E8-8102-3800-CB7C-F86900E4A8AF}"/>
              </a:ext>
            </a:extLst>
          </p:cNvPr>
          <p:cNvSpPr>
            <a:spLocks noGrp="1"/>
          </p:cNvSpPr>
          <p:nvPr>
            <p:ph type="title"/>
          </p:nvPr>
        </p:nvSpPr>
        <p:spPr>
          <a:xfrm>
            <a:off x="646176" y="91440"/>
            <a:ext cx="10515600" cy="1325563"/>
          </a:xfrm>
        </p:spPr>
        <p:txBody>
          <a:bodyPr/>
          <a:lstStyle/>
          <a:p>
            <a:r>
              <a:rPr lang="en-IN" sz="4000" dirty="0">
                <a:solidFill>
                  <a:schemeClr val="accent5">
                    <a:lumMod val="75000"/>
                  </a:schemeClr>
                </a:solidFill>
                <a:latin typeface="Times New Roman" panose="02020603050405020304" pitchFamily="18" charset="0"/>
                <a:cs typeface="Times New Roman" panose="02020603050405020304" pitchFamily="18" charset="0"/>
              </a:rPr>
              <a:t>REFERENCES:-</a:t>
            </a:r>
            <a:endParaRPr lang="en-IN"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EE9F53D-6110-2E31-C077-7713DA476C83}"/>
              </a:ext>
            </a:extLst>
          </p:cNvPr>
          <p:cNvSpPr>
            <a:spLocks noGrp="1"/>
          </p:cNvSpPr>
          <p:nvPr>
            <p:ph idx="1"/>
          </p:nvPr>
        </p:nvSpPr>
        <p:spPr>
          <a:xfrm>
            <a:off x="838200" y="1587881"/>
            <a:ext cx="10515600" cy="4351338"/>
          </a:xfrm>
        </p:spPr>
        <p:txBody>
          <a:bodyPr>
            <a:normAutofit/>
          </a:bodyPr>
          <a:lstStyle/>
          <a:p>
            <a:pPr marL="514350" indent="-514350">
              <a:buFont typeface="+mj-lt"/>
              <a:buAutoNum type="arabicPeriod"/>
            </a:pPr>
            <a:r>
              <a:rPr lang="en-US" sz="2000" dirty="0">
                <a:solidFill>
                  <a:schemeClr val="accent1">
                    <a:lumMod val="50000"/>
                  </a:schemeClr>
                </a:solidFill>
                <a:latin typeface="Times New Roman" panose="02020603050405020304" pitchFamily="18" charset="0"/>
                <a:cs typeface="Times New Roman" panose="02020603050405020304" pitchFamily="18" charset="0"/>
              </a:rPr>
              <a:t>Ahmad, Fareed, et al. "Optimal location of electric vehicle charging station and its impact on distribution network: A review." Energy Reports 8 (2022): 2314 2333. </a:t>
            </a:r>
          </a:p>
          <a:p>
            <a:pPr marL="514350" indent="-514350">
              <a:buFont typeface="+mj-lt"/>
              <a:buAutoNum type="arabicPeriod"/>
            </a:pPr>
            <a:r>
              <a:rPr lang="en-US" sz="2000" dirty="0" err="1">
                <a:solidFill>
                  <a:schemeClr val="accent1">
                    <a:lumMod val="50000"/>
                  </a:schemeClr>
                </a:solidFill>
                <a:latin typeface="Times New Roman" panose="02020603050405020304" pitchFamily="18" charset="0"/>
                <a:cs typeface="Times New Roman" panose="02020603050405020304" pitchFamily="18" charset="0"/>
              </a:rPr>
              <a:t>Atawi</a:t>
            </a:r>
            <a:r>
              <a:rPr lang="en-US" sz="2000" dirty="0">
                <a:solidFill>
                  <a:schemeClr val="accent1">
                    <a:lumMod val="50000"/>
                  </a:schemeClr>
                </a:solidFill>
                <a:latin typeface="Times New Roman" panose="02020603050405020304" pitchFamily="18" charset="0"/>
                <a:cs typeface="Times New Roman" panose="02020603050405020304" pitchFamily="18" charset="0"/>
              </a:rPr>
              <a:t> IE,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Hendawi</a:t>
            </a:r>
            <a:r>
              <a:rPr lang="en-US" sz="2000" dirty="0">
                <a:solidFill>
                  <a:schemeClr val="accent1">
                    <a:lumMod val="50000"/>
                  </a:schemeClr>
                </a:solidFill>
                <a:latin typeface="Times New Roman" panose="02020603050405020304" pitchFamily="18" charset="0"/>
                <a:cs typeface="Times New Roman" panose="02020603050405020304" pitchFamily="18" charset="0"/>
              </a:rPr>
              <a:t> E, Zaid SA. Analysis and Design of a Standalone Electric Vehicle Charging Station Supplied by Photovoltaic Energy. </a:t>
            </a:r>
          </a:p>
          <a:p>
            <a:pPr marL="514350" indent="-514350">
              <a:buFont typeface="+mj-lt"/>
              <a:buAutoNum type="arabicPeriod"/>
            </a:pPr>
            <a:r>
              <a:rPr lang="en-US" sz="2000" dirty="0">
                <a:solidFill>
                  <a:schemeClr val="accent1">
                    <a:lumMod val="50000"/>
                  </a:schemeClr>
                </a:solidFill>
                <a:latin typeface="Times New Roman" panose="02020603050405020304" pitchFamily="18" charset="0"/>
                <a:cs typeface="Times New Roman" panose="02020603050405020304" pitchFamily="18" charset="0"/>
              </a:rPr>
              <a:t>M. Nour, H. Ramadan, A. Ali, and C. Farkas, “Impacts of plug-in electric vehicles charging on low voltage distribution network,” in 2018 International Conference on Innovative Trends in Computer (ITCE), 2018, pp. 357–362. </a:t>
            </a:r>
          </a:p>
          <a:p>
            <a:pPr marL="514350" indent="-514350">
              <a:buFont typeface="+mj-lt"/>
              <a:buAutoNum type="arabicPeriod"/>
            </a:pPr>
            <a:r>
              <a:rPr lang="en-US" sz="2000" dirty="0">
                <a:solidFill>
                  <a:schemeClr val="accent1">
                    <a:lumMod val="50000"/>
                  </a:schemeClr>
                </a:solidFill>
                <a:latin typeface="Times New Roman" panose="02020603050405020304" pitchFamily="18" charset="0"/>
                <a:cs typeface="Times New Roman" panose="02020603050405020304" pitchFamily="18" charset="0"/>
              </a:rPr>
              <a:t>A. K. </a:t>
            </a:r>
            <a:r>
              <a:rPr lang="en-US" sz="2000" dirty="0" err="1">
                <a:solidFill>
                  <a:schemeClr val="accent1">
                    <a:lumMod val="50000"/>
                  </a:schemeClr>
                </a:solidFill>
                <a:latin typeface="Times New Roman" panose="02020603050405020304" pitchFamily="18" charset="0"/>
                <a:cs typeface="Times New Roman" panose="02020603050405020304" pitchFamily="18" charset="0"/>
              </a:rPr>
              <a:t>Karmaker</a:t>
            </a:r>
            <a:r>
              <a:rPr lang="en-US" sz="2000" dirty="0">
                <a:solidFill>
                  <a:schemeClr val="accent1">
                    <a:lumMod val="50000"/>
                  </a:schemeClr>
                </a:solidFill>
                <a:latin typeface="Times New Roman" panose="02020603050405020304" pitchFamily="18" charset="0"/>
                <a:cs typeface="Times New Roman" panose="02020603050405020304" pitchFamily="18" charset="0"/>
              </a:rPr>
              <a:t>, S. Roy, and M. R. Ahmed, “Analysis of the impact of electric vehicle charging station on power quality issues,” in 2019 International Conference on Electrical, Computer and Communication Engineering (ECCE), 2019, pp. 1–6. </a:t>
            </a:r>
            <a:endParaRPr lang="en-IN" sz="2000"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6603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6A6573A-FEC7-E70A-3D32-0D631E4618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4194" y="1238597"/>
            <a:ext cx="8365529" cy="4705610"/>
          </a:xfrm>
        </p:spPr>
      </p:pic>
    </p:spTree>
    <p:extLst>
      <p:ext uri="{BB962C8B-B14F-4D97-AF65-F5344CB8AC3E}">
        <p14:creationId xmlns:p14="http://schemas.microsoft.com/office/powerpoint/2010/main" val="2561986896"/>
      </p:ext>
    </p:extLst>
  </p:cSld>
  <p:clrMapOvr>
    <a:masterClrMapping/>
  </p:clrMapOvr>
</p:sld>
</file>

<file path=ppt/theme/theme1.xml><?xml version="1.0" encoding="utf-8"?>
<a:theme xmlns:a="http://schemas.openxmlformats.org/drawingml/2006/main" name="Office Theme">
  <a:themeElements>
    <a:clrScheme name="Custom 3">
      <a:dk1>
        <a:sysClr val="windowText" lastClr="000000"/>
      </a:dk1>
      <a:lt1>
        <a:srgbClr val="FFFFFF"/>
      </a:lt1>
      <a:dk2>
        <a:srgbClr val="44546A"/>
      </a:dk2>
      <a:lt2>
        <a:srgbClr val="E7E6E6"/>
      </a:lt2>
      <a:accent1>
        <a:srgbClr val="EBEBF5"/>
      </a:accent1>
      <a:accent2>
        <a:srgbClr val="E0E0FB"/>
      </a:accent2>
      <a:accent3>
        <a:srgbClr val="8A8AEF"/>
      </a:accent3>
      <a:accent4>
        <a:srgbClr val="2E2FE3"/>
      </a:accent4>
      <a:accent5>
        <a:srgbClr val="151599"/>
      </a:accent5>
      <a:accent6>
        <a:srgbClr val="09093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8404</TotalTime>
  <Words>2392</Words>
  <Application>Microsoft Office PowerPoint</Application>
  <PresentationFormat>Widescreen</PresentationFormat>
  <Paragraphs>174</Paragraphs>
  <Slides>29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Times New Roman</vt:lpstr>
      <vt:lpstr>Wingdings</vt:lpstr>
      <vt:lpstr>Office Theme</vt:lpstr>
      <vt:lpstr>Advanced Monitoring System for Enhancing Solar-Powered Electric Vehicle Efficiency Using a Smoothing Function Circuit for Reliable Power Distribution</vt:lpstr>
      <vt:lpstr>CONTENTS:-</vt:lpstr>
      <vt:lpstr>OBJECTIVES:-</vt:lpstr>
      <vt:lpstr>ABSTRACT:-</vt:lpstr>
      <vt:lpstr>INTRODUCTION:-</vt:lpstr>
      <vt:lpstr>LITERATURE SURVEY:- </vt:lpstr>
      <vt:lpstr>METHODOLOGY :- BLOCK DIAGRAM</vt:lpstr>
      <vt:lpstr>WORK DONE:- </vt:lpstr>
      <vt:lpstr> Result analysis  of Photo Voltaic system :-</vt:lpstr>
      <vt:lpstr>PowerPoint Presentation</vt:lpstr>
      <vt:lpstr>Simulink diagram of a Battery management system:-</vt:lpstr>
      <vt:lpstr>Result Analysis of a battery storage system:-</vt:lpstr>
      <vt:lpstr>PowerPoint Presentation</vt:lpstr>
      <vt:lpstr>WORK DONE(contd…..)</vt:lpstr>
      <vt:lpstr>Result Analysis of a Stator Back EMF:-</vt:lpstr>
      <vt:lpstr>PowerPoint Presentation</vt:lpstr>
      <vt:lpstr>WORK DONE(contd…..)</vt:lpstr>
      <vt:lpstr>WORK DONE(contd…..)</vt:lpstr>
      <vt:lpstr>PowerPoint Presentation</vt:lpstr>
      <vt:lpstr>WORK DONE(contd…..)</vt:lpstr>
      <vt:lpstr>WORK DONE(contd…..)</vt:lpstr>
      <vt:lpstr>PowerPoint Presentation</vt:lpstr>
      <vt:lpstr>WORK DONE(contd…..)</vt:lpstr>
      <vt:lpstr>WORK DONE(contd…..)</vt:lpstr>
      <vt:lpstr>PowerPoint Presentation</vt:lpstr>
      <vt:lpstr>WORK DONE(contd…..)</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Snehalatha Reddy Vendodu</dc:creator>
  <cp:lastModifiedBy>Sandhya Bai</cp:lastModifiedBy>
  <cp:revision>47</cp:revision>
  <dcterms:created xsi:type="dcterms:W3CDTF">2025-02-09T14:31:07Z</dcterms:created>
  <dcterms:modified xsi:type="dcterms:W3CDTF">2025-04-16T16:03:10Z</dcterms:modified>
</cp:coreProperties>
</file>